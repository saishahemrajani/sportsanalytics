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306" r:id="rId3"/>
    <p:sldId id="305" r:id="rId4"/>
    <p:sldId id="258" r:id="rId5"/>
    <p:sldId id="307" r:id="rId6"/>
    <p:sldId id="302" r:id="rId7"/>
    <p:sldId id="260" r:id="rId8"/>
    <p:sldId id="261" r:id="rId9"/>
    <p:sldId id="262" r:id="rId10"/>
    <p:sldId id="263" r:id="rId11"/>
    <p:sldId id="277" r:id="rId12"/>
    <p:sldId id="276" r:id="rId13"/>
    <p:sldId id="275" r:id="rId14"/>
    <p:sldId id="274" r:id="rId15"/>
    <p:sldId id="273" r:id="rId16"/>
    <p:sldId id="272" r:id="rId17"/>
    <p:sldId id="271" r:id="rId18"/>
    <p:sldId id="270" r:id="rId19"/>
    <p:sldId id="269" r:id="rId20"/>
    <p:sldId id="268" r:id="rId21"/>
    <p:sldId id="267" r:id="rId22"/>
    <p:sldId id="266" r:id="rId23"/>
    <p:sldId id="265" r:id="rId24"/>
    <p:sldId id="264" r:id="rId25"/>
    <p:sldId id="309" r:id="rId26"/>
    <p:sldId id="311" r:id="rId27"/>
    <p:sldId id="279" r:id="rId28"/>
    <p:sldId id="296" r:id="rId29"/>
    <p:sldId id="295" r:id="rId30"/>
    <p:sldId id="294" r:id="rId31"/>
    <p:sldId id="293" r:id="rId32"/>
    <p:sldId id="292" r:id="rId33"/>
    <p:sldId id="291" r:id="rId34"/>
    <p:sldId id="290" r:id="rId35"/>
    <p:sldId id="289" r:id="rId36"/>
    <p:sldId id="288" r:id="rId37"/>
    <p:sldId id="287" r:id="rId38"/>
    <p:sldId id="286" r:id="rId39"/>
    <p:sldId id="285" r:id="rId40"/>
    <p:sldId id="301" r:id="rId41"/>
    <p:sldId id="300" r:id="rId42"/>
    <p:sldId id="299" r:id="rId43"/>
    <p:sldId id="298" r:id="rId44"/>
    <p:sldId id="297" r:id="rId45"/>
    <p:sldId id="312" r:id="rId46"/>
    <p:sldId id="304"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7764BA-A56D-4E04-BA93-3983306E0B52}" type="datetimeFigureOut">
              <a:rPr lang="en-IN" smtClean="0"/>
              <a:t>19-06-2025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D41A6B-5ECC-4FF5-B24C-C6DA74E79547}" type="slidenum">
              <a:rPr lang="en-IN" smtClean="0"/>
              <a:t>‹#›</a:t>
            </a:fld>
            <a:endParaRPr lang="en-IN"/>
          </a:p>
        </p:txBody>
      </p:sp>
    </p:spTree>
    <p:extLst>
      <p:ext uri="{BB962C8B-B14F-4D97-AF65-F5344CB8AC3E}">
        <p14:creationId xmlns:p14="http://schemas.microsoft.com/office/powerpoint/2010/main" val="704607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D41A6B-5ECC-4FF5-B24C-C6DA74E79547}" type="slidenum">
              <a:rPr lang="en-IN" smtClean="0"/>
              <a:t>31</a:t>
            </a:fld>
            <a:endParaRPr lang="en-IN"/>
          </a:p>
        </p:txBody>
      </p:sp>
    </p:spTree>
    <p:extLst>
      <p:ext uri="{BB962C8B-B14F-4D97-AF65-F5344CB8AC3E}">
        <p14:creationId xmlns:p14="http://schemas.microsoft.com/office/powerpoint/2010/main" val="1128190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D41A6B-5ECC-4FF5-B24C-C6DA74E79547}" type="slidenum">
              <a:rPr lang="en-IN" smtClean="0"/>
              <a:t>40</a:t>
            </a:fld>
            <a:endParaRPr lang="en-IN"/>
          </a:p>
        </p:txBody>
      </p:sp>
    </p:spTree>
    <p:extLst>
      <p:ext uri="{BB962C8B-B14F-4D97-AF65-F5344CB8AC3E}">
        <p14:creationId xmlns:p14="http://schemas.microsoft.com/office/powerpoint/2010/main" val="1397202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95678433-1151-4387-8E65-510EEB0DBD31}" type="datetimeFigureOut">
              <a:rPr lang="en-IN" smtClean="0"/>
              <a:t>19-06-2025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333225911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678433-1151-4387-8E65-510EEB0DBD31}" type="datetimeFigureOut">
              <a:rPr lang="en-IN" smtClean="0"/>
              <a:t>19-06-2025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1741482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95678433-1151-4387-8E65-510EEB0DBD31}" type="datetimeFigureOut">
              <a:rPr lang="en-IN" smtClean="0"/>
              <a:t>19-06-2025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301811154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95678433-1151-4387-8E65-510EEB0DBD31}" type="datetimeFigureOut">
              <a:rPr lang="en-IN" smtClean="0"/>
              <a:t>19-06-2025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3177086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95678433-1151-4387-8E65-510EEB0DBD31}" type="datetimeFigureOut">
              <a:rPr lang="en-IN" smtClean="0"/>
              <a:t>19-06-2025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447BB9-DF91-4CF2-8DDA-B128493FDC81}"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270448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678433-1151-4387-8E65-510EEB0DBD31}" type="datetimeFigureOut">
              <a:rPr lang="en-IN" smtClean="0"/>
              <a:t>19-06-2025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312965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78433-1151-4387-8E65-510EEB0DBD31}" type="datetimeFigureOut">
              <a:rPr lang="en-IN" smtClean="0"/>
              <a:t>19-06-2025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271955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95678433-1151-4387-8E65-510EEB0DBD31}" type="datetimeFigureOut">
              <a:rPr lang="en-IN" smtClean="0"/>
              <a:t>19-06-2025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1885997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95678433-1151-4387-8E65-510EEB0DBD31}" type="datetimeFigureOut">
              <a:rPr lang="en-IN" smtClean="0"/>
              <a:t>19-06-2025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404473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678433-1151-4387-8E65-510EEB0DBD31}" type="datetimeFigureOut">
              <a:rPr lang="en-IN" smtClean="0"/>
              <a:t>19-06-2025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3905007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678433-1151-4387-8E65-510EEB0DBD31}" type="datetimeFigureOut">
              <a:rPr lang="en-IN" smtClean="0"/>
              <a:t>19-06-2025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447BB9-DF91-4CF2-8DDA-B128493FDC81}" type="slidenum">
              <a:rPr lang="en-IN" smtClean="0"/>
              <a:t>‹#›</a:t>
            </a:fld>
            <a:endParaRPr lang="en-IN"/>
          </a:p>
        </p:txBody>
      </p:sp>
    </p:spTree>
    <p:extLst>
      <p:ext uri="{BB962C8B-B14F-4D97-AF65-F5344CB8AC3E}">
        <p14:creationId xmlns:p14="http://schemas.microsoft.com/office/powerpoint/2010/main" val="267458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5678433-1151-4387-8E65-510EEB0DBD31}" type="datetimeFigureOut">
              <a:rPr lang="en-IN" smtClean="0"/>
              <a:t>19-06-2025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3447BB9-DF91-4CF2-8DDA-B128493FDC81}" type="slidenum">
              <a:rPr lang="en-IN" smtClean="0"/>
              <a:t>‹#›</a:t>
            </a:fld>
            <a:endParaRPr lang="en-IN"/>
          </a:p>
        </p:txBody>
      </p:sp>
    </p:spTree>
    <p:extLst>
      <p:ext uri="{BB962C8B-B14F-4D97-AF65-F5344CB8AC3E}">
        <p14:creationId xmlns:p14="http://schemas.microsoft.com/office/powerpoint/2010/main" val="2108870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rson running fast to jump over precipice between two mountains">
            <a:extLst>
              <a:ext uri="{FF2B5EF4-FFF2-40B4-BE49-F238E27FC236}">
                <a16:creationId xmlns:a16="http://schemas.microsoft.com/office/drawing/2014/main" id="{C9515EF8-D7C7-9B1B-3EF4-7015C5179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8726CB7-C4A3-6AEC-C2FC-73E3543B14CC}"/>
              </a:ext>
            </a:extLst>
          </p:cNvPr>
          <p:cNvSpPr>
            <a:spLocks noGrp="1"/>
          </p:cNvSpPr>
          <p:nvPr>
            <p:ph type="ctrTitle"/>
          </p:nvPr>
        </p:nvSpPr>
        <p:spPr>
          <a:xfrm>
            <a:off x="1600200" y="0"/>
            <a:ext cx="8991600" cy="1645920"/>
          </a:xfrm>
        </p:spPr>
        <p:txBody>
          <a:bodyPr/>
          <a:lstStyle/>
          <a:p>
            <a:r>
              <a:rPr lang="en-IN" dirty="0">
                <a:solidFill>
                  <a:srgbClr val="002060"/>
                </a:solidFill>
              </a:rPr>
              <a:t>CAPSTONE PROJECT</a:t>
            </a:r>
            <a:br>
              <a:rPr lang="en-IN" dirty="0">
                <a:solidFill>
                  <a:srgbClr val="002060"/>
                </a:solidFill>
              </a:rPr>
            </a:br>
            <a:r>
              <a:rPr lang="en-IN" sz="2400" dirty="0">
                <a:solidFill>
                  <a:srgbClr val="002060"/>
                </a:solidFill>
              </a:rPr>
              <a:t>- Sports analysis</a:t>
            </a:r>
          </a:p>
        </p:txBody>
      </p:sp>
      <p:sp>
        <p:nvSpPr>
          <p:cNvPr id="3" name="Subtitle 2">
            <a:extLst>
              <a:ext uri="{FF2B5EF4-FFF2-40B4-BE49-F238E27FC236}">
                <a16:creationId xmlns:a16="http://schemas.microsoft.com/office/drawing/2014/main" id="{7AF1DFCE-1D24-52E2-2B22-9490189AA3B8}"/>
              </a:ext>
            </a:extLst>
          </p:cNvPr>
          <p:cNvSpPr>
            <a:spLocks noGrp="1"/>
          </p:cNvSpPr>
          <p:nvPr>
            <p:ph type="subTitle" idx="1"/>
          </p:nvPr>
        </p:nvSpPr>
        <p:spPr>
          <a:xfrm>
            <a:off x="1480457" y="1645920"/>
            <a:ext cx="8991600" cy="1239894"/>
          </a:xfrm>
        </p:spPr>
        <p:txBody>
          <a:bodyPr/>
          <a:lstStyle/>
          <a:p>
            <a:pPr marL="342900" indent="-342900">
              <a:buFontTx/>
              <a:buChar char="-"/>
            </a:pPr>
            <a:r>
              <a:rPr lang="en-IN" sz="2400" dirty="0">
                <a:solidFill>
                  <a:srgbClr val="002060"/>
                </a:solidFill>
              </a:rPr>
              <a:t>By Saisha Hemrajani</a:t>
            </a:r>
          </a:p>
          <a:p>
            <a:pPr marL="342900" indent="-342900">
              <a:buFontTx/>
              <a:buChar char="-"/>
            </a:pPr>
            <a:endParaRPr lang="en-IN" dirty="0"/>
          </a:p>
        </p:txBody>
      </p:sp>
    </p:spTree>
    <p:extLst>
      <p:ext uri="{BB962C8B-B14F-4D97-AF65-F5344CB8AC3E}">
        <p14:creationId xmlns:p14="http://schemas.microsoft.com/office/powerpoint/2010/main" val="1677647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EE78-A57B-F378-B92D-BF7463E722DE}"/>
            </a:ext>
          </a:extLst>
        </p:cNvPr>
        <p:cNvGrpSpPr/>
        <p:nvPr/>
      </p:nvGrpSpPr>
      <p:grpSpPr>
        <a:xfrm>
          <a:off x="0" y="0"/>
          <a:ext cx="0" cy="0"/>
          <a:chOff x="0" y="0"/>
          <a:chExt cx="0" cy="0"/>
        </a:xfrm>
      </p:grpSpPr>
      <p:pic>
        <p:nvPicPr>
          <p:cNvPr id="1030" name="Picture 6" descr="One continuous line drawing of arrow was shot bullseye to archery target  board. Archery sport equipment concept. Dynamic single line draw design  graphic illustration 26991020 PNG">
            <a:extLst>
              <a:ext uri="{FF2B5EF4-FFF2-40B4-BE49-F238E27FC236}">
                <a16:creationId xmlns:a16="http://schemas.microsoft.com/office/drawing/2014/main" id="{1AE55C23-22E3-7D47-EF24-04A13A6C03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601" y="2122715"/>
            <a:ext cx="8330399" cy="473528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FCE2CC25-7EB1-D95F-FE21-B2AA0E272F89}"/>
              </a:ext>
            </a:extLst>
          </p:cNvPr>
          <p:cNvSpPr>
            <a:spLocks noGrp="1"/>
          </p:cNvSpPr>
          <p:nvPr>
            <p:ph idx="1"/>
          </p:nvPr>
        </p:nvSpPr>
        <p:spPr>
          <a:xfrm>
            <a:off x="2122279" y="2153412"/>
            <a:ext cx="6553636" cy="4704587"/>
          </a:xfrm>
        </p:spPr>
        <p:txBody>
          <a:bodyPr>
            <a:normAutofit/>
          </a:bodyPr>
          <a:lstStyle/>
          <a:p>
            <a:r>
              <a:rPr lang="en-IN" b="1" dirty="0">
                <a:solidFill>
                  <a:schemeClr val="tx1"/>
                </a:solidFill>
              </a:rPr>
              <a:t>To carry out a systematic analysis of historical Olympic Games data (from 1896 to 2020) to uncover patterns, trends, and relationships across different dimensions of the Games. </a:t>
            </a:r>
          </a:p>
          <a:p>
            <a:r>
              <a:rPr lang="en-IN" b="1" dirty="0">
                <a:solidFill>
                  <a:schemeClr val="tx1"/>
                </a:solidFill>
              </a:rPr>
              <a:t>By utilizing organized data concerning athletes, events, sports, regions, and medals, the research seeks to answer significant analytical questions related to participation, performance, and representation.</a:t>
            </a:r>
          </a:p>
          <a:p>
            <a:r>
              <a:rPr lang="en-IN" b="1" dirty="0">
                <a:solidFill>
                  <a:schemeClr val="tx1"/>
                </a:solidFill>
              </a:rPr>
              <a:t>Utilized a combination of SQL-based queries, Excel, and Power BI visualizations for the analysis</a:t>
            </a:r>
          </a:p>
          <a:p>
            <a:endParaRPr lang="en-IN" dirty="0">
              <a:solidFill>
                <a:schemeClr val="tx1"/>
              </a:solidFill>
            </a:endParaRPr>
          </a:p>
          <a:p>
            <a:endParaRPr lang="en-IN" dirty="0">
              <a:solidFill>
                <a:schemeClr val="tx1"/>
              </a:solidFill>
            </a:endParaRPr>
          </a:p>
        </p:txBody>
      </p:sp>
      <p:sp>
        <p:nvSpPr>
          <p:cNvPr id="2" name="Title 3">
            <a:extLst>
              <a:ext uri="{FF2B5EF4-FFF2-40B4-BE49-F238E27FC236}">
                <a16:creationId xmlns:a16="http://schemas.microsoft.com/office/drawing/2014/main" id="{37360D7B-5BCD-10EC-4897-BCA5B6FDB64D}"/>
              </a:ext>
            </a:extLst>
          </p:cNvPr>
          <p:cNvSpPr txBox="1">
            <a:spLocks/>
          </p:cNvSpPr>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IN"/>
              <a:t>Dataset Description</a:t>
            </a:r>
            <a:endParaRPr lang="en-IN" dirty="0"/>
          </a:p>
        </p:txBody>
      </p:sp>
      <p:sp>
        <p:nvSpPr>
          <p:cNvPr id="6" name="Title 5">
            <a:extLst>
              <a:ext uri="{FF2B5EF4-FFF2-40B4-BE49-F238E27FC236}">
                <a16:creationId xmlns:a16="http://schemas.microsoft.com/office/drawing/2014/main" id="{E8031E41-39B9-A6CE-C661-BE93F569A040}"/>
              </a:ext>
            </a:extLst>
          </p:cNvPr>
          <p:cNvSpPr>
            <a:spLocks noGrp="1"/>
          </p:cNvSpPr>
          <p:nvPr>
            <p:ph type="title"/>
          </p:nvPr>
        </p:nvSpPr>
        <p:spPr/>
        <p:txBody>
          <a:bodyPr/>
          <a:lstStyle/>
          <a:p>
            <a:r>
              <a:rPr lang="en-IN" dirty="0"/>
              <a:t>OBJECTIVE</a:t>
            </a:r>
          </a:p>
        </p:txBody>
      </p:sp>
    </p:spTree>
    <p:extLst>
      <p:ext uri="{BB962C8B-B14F-4D97-AF65-F5344CB8AC3E}">
        <p14:creationId xmlns:p14="http://schemas.microsoft.com/office/powerpoint/2010/main" val="3994640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369FD-9C3E-2804-FD09-848FF8EC6D1D}"/>
            </a:ext>
          </a:extLst>
        </p:cNvPr>
        <p:cNvGrpSpPr/>
        <p:nvPr/>
      </p:nvGrpSpPr>
      <p:grpSpPr>
        <a:xfrm>
          <a:off x="0" y="0"/>
          <a:ext cx="0" cy="0"/>
          <a:chOff x="0" y="0"/>
          <a:chExt cx="0" cy="0"/>
        </a:xfrm>
      </p:grpSpPr>
      <p:pic>
        <p:nvPicPr>
          <p:cNvPr id="2" name="Picture 1" descr="A close up of a piece of paper with a pencil laying on top">
            <a:extLst>
              <a:ext uri="{FF2B5EF4-FFF2-40B4-BE49-F238E27FC236}">
                <a16:creationId xmlns:a16="http://schemas.microsoft.com/office/drawing/2014/main" id="{3CD3AB1B-0EED-87FE-81B9-9D09485A3CA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CF2153CE-1511-81D6-F1ED-4FDF2E2B76B0}"/>
              </a:ext>
            </a:extLst>
          </p:cNvPr>
          <p:cNvSpPr>
            <a:spLocks noGrp="1"/>
          </p:cNvSpPr>
          <p:nvPr>
            <p:ph type="title"/>
          </p:nvPr>
        </p:nvSpPr>
        <p:spPr/>
        <p:txBody>
          <a:bodyPr>
            <a:normAutofit/>
          </a:bodyPr>
          <a:lstStyle/>
          <a:p>
            <a:r>
              <a:rPr lang="en-IN" dirty="0"/>
              <a:t>Dataset Description</a:t>
            </a:r>
          </a:p>
        </p:txBody>
      </p:sp>
      <p:sp>
        <p:nvSpPr>
          <p:cNvPr id="5" name="Content Placeholder 4">
            <a:extLst>
              <a:ext uri="{FF2B5EF4-FFF2-40B4-BE49-F238E27FC236}">
                <a16:creationId xmlns:a16="http://schemas.microsoft.com/office/drawing/2014/main" id="{675281E7-6E79-9FCE-270C-1652596D0CB0}"/>
              </a:ext>
            </a:extLst>
          </p:cNvPr>
          <p:cNvSpPr>
            <a:spLocks noGrp="1"/>
          </p:cNvSpPr>
          <p:nvPr>
            <p:ph idx="1"/>
          </p:nvPr>
        </p:nvSpPr>
        <p:spPr>
          <a:xfrm>
            <a:off x="6498770" y="2351314"/>
            <a:ext cx="5584807" cy="4506686"/>
          </a:xfrm>
        </p:spPr>
        <p:txBody>
          <a:bodyPr>
            <a:normAutofit/>
          </a:bodyPr>
          <a:lstStyle/>
          <a:p>
            <a:r>
              <a:rPr lang="en-US" b="1" dirty="0">
                <a:solidFill>
                  <a:schemeClr val="tx1"/>
                </a:solidFill>
              </a:rPr>
              <a:t>The dataset described is a thorough collection of information about the Olympic Games, offering a detailed perspective on different aspects associated with this prestigious international sporting event. </a:t>
            </a:r>
          </a:p>
          <a:p>
            <a:r>
              <a:rPr lang="en-US" b="1" dirty="0">
                <a:solidFill>
                  <a:schemeClr val="tx1"/>
                </a:solidFill>
              </a:rPr>
              <a:t>It encompasses data from multiple interconnected tables, delivering valuable insights into the history, sports, participants, and venues of the Olympic Games</a:t>
            </a:r>
            <a:r>
              <a:rPr lang="en-US" dirty="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247084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F9B-402E-A422-792F-C28F257496A4}"/>
              </a:ext>
            </a:extLst>
          </p:cNvPr>
          <p:cNvSpPr>
            <a:spLocks noGrp="1"/>
          </p:cNvSpPr>
          <p:nvPr>
            <p:ph type="title"/>
          </p:nvPr>
        </p:nvSpPr>
        <p:spPr>
          <a:xfrm>
            <a:off x="0" y="0"/>
            <a:ext cx="12192000" cy="1188720"/>
          </a:xfrm>
        </p:spPr>
        <p:txBody>
          <a:bodyPr/>
          <a:lstStyle/>
          <a:p>
            <a:r>
              <a:rPr lang="en-IN" dirty="0"/>
              <a:t>ER DIAGRAM</a:t>
            </a:r>
          </a:p>
        </p:txBody>
      </p:sp>
      <p:pic>
        <p:nvPicPr>
          <p:cNvPr id="4" name="Picture 3">
            <a:extLst>
              <a:ext uri="{FF2B5EF4-FFF2-40B4-BE49-F238E27FC236}">
                <a16:creationId xmlns:a16="http://schemas.microsoft.com/office/drawing/2014/main" id="{D4C6A371-A911-B242-67BD-0D4D61CF89EF}"/>
              </a:ext>
            </a:extLst>
          </p:cNvPr>
          <p:cNvPicPr>
            <a:picLocks noChangeAspect="1"/>
          </p:cNvPicPr>
          <p:nvPr/>
        </p:nvPicPr>
        <p:blipFill>
          <a:blip r:embed="rId2"/>
          <a:stretch>
            <a:fillRect/>
          </a:stretch>
        </p:blipFill>
        <p:spPr>
          <a:xfrm>
            <a:off x="0" y="1188720"/>
            <a:ext cx="12192000" cy="5669280"/>
          </a:xfrm>
          <a:prstGeom prst="rect">
            <a:avLst/>
          </a:prstGeom>
        </p:spPr>
      </p:pic>
    </p:spTree>
    <p:extLst>
      <p:ext uri="{BB962C8B-B14F-4D97-AF65-F5344CB8AC3E}">
        <p14:creationId xmlns:p14="http://schemas.microsoft.com/office/powerpoint/2010/main" val="1852282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48B8C76-E577-2696-C4B9-DE6605A63A8E}"/>
            </a:ext>
          </a:extLst>
        </p:cNvPr>
        <p:cNvGrpSpPr/>
        <p:nvPr/>
      </p:nvGrpSpPr>
      <p:grpSpPr>
        <a:xfrm>
          <a:off x="0" y="0"/>
          <a:ext cx="0" cy="0"/>
          <a:chOff x="0" y="0"/>
          <a:chExt cx="0" cy="0"/>
        </a:xfrm>
      </p:grpSpPr>
      <p:pic>
        <p:nvPicPr>
          <p:cNvPr id="3074" name="Picture 2" descr="Power Bi: Over 631 Royalty-Free ...">
            <a:extLst>
              <a:ext uri="{FF2B5EF4-FFF2-40B4-BE49-F238E27FC236}">
                <a16:creationId xmlns:a16="http://schemas.microsoft.com/office/drawing/2014/main" id="{B068256C-B0B6-31F8-0768-CFC65D22B4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063"/>
          <a:stretch>
            <a:fillRect/>
          </a:stretch>
        </p:blipFill>
        <p:spPr bwMode="auto">
          <a:xfrm>
            <a:off x="0" y="1"/>
            <a:ext cx="12192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oblem Statement Images – Browse 33 ...">
            <a:extLst>
              <a:ext uri="{FF2B5EF4-FFF2-40B4-BE49-F238E27FC236}">
                <a16:creationId xmlns:a16="http://schemas.microsoft.com/office/drawing/2014/main" id="{307D10AE-3E4F-44B7-27A8-B6B78A70E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28999"/>
            <a:ext cx="12192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6458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6880AD1-3269-3927-B62C-02A19D7E6ED5}"/>
              </a:ext>
            </a:extLst>
          </p:cNvPr>
          <p:cNvPicPr>
            <a:picLocks noChangeAspect="1"/>
          </p:cNvPicPr>
          <p:nvPr/>
        </p:nvPicPr>
        <p:blipFill>
          <a:blip r:embed="rId2"/>
          <a:srcRect t="734"/>
          <a:stretch>
            <a:fillRect/>
          </a:stretch>
        </p:blipFill>
        <p:spPr>
          <a:xfrm>
            <a:off x="0" y="0"/>
            <a:ext cx="12192000" cy="6858000"/>
          </a:xfrm>
          <a:prstGeom prst="rect">
            <a:avLst/>
          </a:prstGeom>
        </p:spPr>
      </p:pic>
    </p:spTree>
    <p:extLst>
      <p:ext uri="{BB962C8B-B14F-4D97-AF65-F5344CB8AC3E}">
        <p14:creationId xmlns:p14="http://schemas.microsoft.com/office/powerpoint/2010/main" val="2348572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1319B-F623-7E06-4890-D7C3D6C04AA2}"/>
              </a:ext>
            </a:extLst>
          </p:cNvPr>
          <p:cNvSpPr>
            <a:spLocks noGrp="1"/>
          </p:cNvSpPr>
          <p:nvPr>
            <p:ph type="title"/>
          </p:nvPr>
        </p:nvSpPr>
        <p:spPr>
          <a:xfrm>
            <a:off x="-1" y="0"/>
            <a:ext cx="12192001" cy="1188720"/>
          </a:xfrm>
        </p:spPr>
        <p:txBody>
          <a:bodyPr>
            <a:normAutofit fontScale="90000"/>
          </a:bodyPr>
          <a:lstStyle/>
          <a:p>
            <a:r>
              <a:rPr lang="en-IN" b="1" dirty="0"/>
              <a:t>1.How many Olympic Games have been held in each season (Summer vs. Winter)?</a:t>
            </a:r>
            <a:br>
              <a:rPr lang="en-IN" dirty="0"/>
            </a:br>
            <a:endParaRPr lang="en-IN" dirty="0"/>
          </a:p>
        </p:txBody>
      </p:sp>
      <p:sp>
        <p:nvSpPr>
          <p:cNvPr id="5" name="Content Placeholder 2">
            <a:extLst>
              <a:ext uri="{FF2B5EF4-FFF2-40B4-BE49-F238E27FC236}">
                <a16:creationId xmlns:a16="http://schemas.microsoft.com/office/drawing/2014/main" id="{30190DDF-21D3-BBC0-8BA7-0B5E902D1874}"/>
              </a:ext>
            </a:extLst>
          </p:cNvPr>
          <p:cNvSpPr txBox="1">
            <a:spLocks/>
          </p:cNvSpPr>
          <p:nvPr/>
        </p:nvSpPr>
        <p:spPr>
          <a:xfrm>
            <a:off x="7336971" y="1491343"/>
            <a:ext cx="48550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Upon observing this pie-chart,  it is clearly seen that </a:t>
            </a:r>
            <a:r>
              <a:rPr lang="en-US" dirty="0"/>
              <a:t>a greater number of Olympic Games have been held in the </a:t>
            </a:r>
            <a:r>
              <a:rPr lang="en-US" b="1" dirty="0"/>
              <a:t>Summer season</a:t>
            </a:r>
            <a:r>
              <a:rPr lang="en-US" dirty="0"/>
              <a:t> compared to the </a:t>
            </a:r>
            <a:r>
              <a:rPr lang="en-US" b="1" dirty="0"/>
              <a:t>Winter season.</a:t>
            </a:r>
          </a:p>
          <a:p>
            <a:r>
              <a:rPr lang="en-US" dirty="0"/>
              <a:t>Summer season had 29 games and Winter had 22 games.</a:t>
            </a:r>
            <a:endParaRPr lang="en-IN" dirty="0"/>
          </a:p>
        </p:txBody>
      </p:sp>
      <p:pic>
        <p:nvPicPr>
          <p:cNvPr id="8" name="Picture 7">
            <a:extLst>
              <a:ext uri="{FF2B5EF4-FFF2-40B4-BE49-F238E27FC236}">
                <a16:creationId xmlns:a16="http://schemas.microsoft.com/office/drawing/2014/main" id="{06248872-6BC2-252D-C30B-30F2BA0C14B9}"/>
              </a:ext>
            </a:extLst>
          </p:cNvPr>
          <p:cNvPicPr>
            <a:picLocks noChangeAspect="1"/>
          </p:cNvPicPr>
          <p:nvPr/>
        </p:nvPicPr>
        <p:blipFill rotWithShape="1">
          <a:blip r:embed="rId2">
            <a:clrChange>
              <a:clrFrom>
                <a:srgbClr val="FFFFFF"/>
              </a:clrFrom>
              <a:clrTo>
                <a:srgbClr val="FFFFFF">
                  <a:alpha val="0"/>
                </a:srgbClr>
              </a:clrTo>
            </a:clrChange>
          </a:blip>
          <a:srcRect l="28174" t="1659" b="7303"/>
          <a:stretch>
            <a:fillRect/>
          </a:stretch>
        </p:blipFill>
        <p:spPr bwMode="auto">
          <a:xfrm>
            <a:off x="0" y="1188721"/>
            <a:ext cx="7336971" cy="56692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33212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6DCAC-9238-1350-568B-25E5CFECD50B}"/>
              </a:ext>
            </a:extLst>
          </p:cNvPr>
          <p:cNvSpPr>
            <a:spLocks noGrp="1"/>
          </p:cNvSpPr>
          <p:nvPr>
            <p:ph type="title"/>
          </p:nvPr>
        </p:nvSpPr>
        <p:spPr>
          <a:xfrm>
            <a:off x="0" y="0"/>
            <a:ext cx="12192000" cy="1055914"/>
          </a:xfrm>
        </p:spPr>
        <p:txBody>
          <a:bodyPr>
            <a:normAutofit fontScale="90000"/>
          </a:bodyPr>
          <a:lstStyle/>
          <a:p>
            <a:r>
              <a:rPr lang="en-IN" b="1" dirty="0"/>
              <a:t>2. What is the distribution of games across different decades?</a:t>
            </a:r>
            <a:endParaRPr lang="en-IN" dirty="0"/>
          </a:p>
        </p:txBody>
      </p:sp>
      <p:sp>
        <p:nvSpPr>
          <p:cNvPr id="5" name="Content Placeholder 4">
            <a:extLst>
              <a:ext uri="{FF2B5EF4-FFF2-40B4-BE49-F238E27FC236}">
                <a16:creationId xmlns:a16="http://schemas.microsoft.com/office/drawing/2014/main" id="{EEE25887-FD76-9BE7-6057-F78BF3866860}"/>
              </a:ext>
            </a:extLst>
          </p:cNvPr>
          <p:cNvSpPr>
            <a:spLocks noGrp="1"/>
          </p:cNvSpPr>
          <p:nvPr>
            <p:ph idx="1"/>
          </p:nvPr>
        </p:nvSpPr>
        <p:spPr>
          <a:xfrm>
            <a:off x="8763001" y="1168473"/>
            <a:ext cx="3428999" cy="5689527"/>
          </a:xfrm>
        </p:spPr>
        <p:txBody>
          <a:bodyPr/>
          <a:lstStyle/>
          <a:p>
            <a:r>
              <a:rPr lang="en-IN" dirty="0"/>
              <a:t>The Olympic Games have seen consistent growth across decades, with notable drops during the 1910s and 1940s due to World Wars. </a:t>
            </a:r>
          </a:p>
          <a:p>
            <a:r>
              <a:rPr lang="en-IN" dirty="0"/>
              <a:t>The maximum games were played in 1960 and in 1980.</a:t>
            </a:r>
          </a:p>
          <a:p>
            <a:endParaRPr lang="en-IN" dirty="0"/>
          </a:p>
          <a:p>
            <a:endParaRPr lang="en-IN" dirty="0"/>
          </a:p>
          <a:p>
            <a:endParaRPr lang="en-IN" dirty="0"/>
          </a:p>
          <a:p>
            <a:endParaRPr lang="en-IN" dirty="0"/>
          </a:p>
        </p:txBody>
      </p:sp>
      <p:pic>
        <p:nvPicPr>
          <p:cNvPr id="8" name="Picture 7">
            <a:extLst>
              <a:ext uri="{FF2B5EF4-FFF2-40B4-BE49-F238E27FC236}">
                <a16:creationId xmlns:a16="http://schemas.microsoft.com/office/drawing/2014/main" id="{149ECC79-10EB-88C2-0B95-031413EC994C}"/>
              </a:ext>
            </a:extLst>
          </p:cNvPr>
          <p:cNvPicPr>
            <a:picLocks noChangeAspect="1"/>
          </p:cNvPicPr>
          <p:nvPr/>
        </p:nvPicPr>
        <p:blipFill rotWithShape="1">
          <a:blip r:embed="rId2">
            <a:clrChange>
              <a:clrFrom>
                <a:srgbClr val="FFFFFF"/>
              </a:clrFrom>
              <a:clrTo>
                <a:srgbClr val="FFFFFF">
                  <a:alpha val="0"/>
                </a:srgbClr>
              </a:clrTo>
            </a:clrChange>
          </a:blip>
          <a:srcRect l="1132" t="1838"/>
          <a:stretch>
            <a:fillRect/>
          </a:stretch>
        </p:blipFill>
        <p:spPr bwMode="auto">
          <a:xfrm>
            <a:off x="-1" y="1055914"/>
            <a:ext cx="8630579" cy="58020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26760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CE578-B9A8-9C6F-D836-B237DE427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1532F-91F4-C3EE-D03C-865B81CC4280}"/>
              </a:ext>
            </a:extLst>
          </p:cNvPr>
          <p:cNvSpPr>
            <a:spLocks noGrp="1"/>
          </p:cNvSpPr>
          <p:nvPr>
            <p:ph type="title"/>
          </p:nvPr>
        </p:nvSpPr>
        <p:spPr>
          <a:xfrm>
            <a:off x="-1" y="0"/>
            <a:ext cx="12192001" cy="1188720"/>
          </a:xfrm>
        </p:spPr>
        <p:txBody>
          <a:bodyPr>
            <a:normAutofit fontScale="90000"/>
          </a:bodyPr>
          <a:lstStyle/>
          <a:p>
            <a:r>
              <a:rPr lang="en-IN" b="1" dirty="0"/>
              <a:t>3. Which cities have hosted the most Olympic Games?</a:t>
            </a:r>
            <a:br>
              <a:rPr lang="en-IN" dirty="0"/>
            </a:br>
            <a:endParaRPr lang="en-IN" dirty="0"/>
          </a:p>
        </p:txBody>
      </p:sp>
      <p:sp>
        <p:nvSpPr>
          <p:cNvPr id="5" name="Content Placeholder 2">
            <a:extLst>
              <a:ext uri="{FF2B5EF4-FFF2-40B4-BE49-F238E27FC236}">
                <a16:creationId xmlns:a16="http://schemas.microsoft.com/office/drawing/2014/main" id="{5297E406-9AA9-7A15-ECA1-5A7A7FEBC111}"/>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From the “Stacked Area Chart” it can be observed that both London and Athina have hosted the maximum number (3 times) of Olympic games.</a:t>
            </a:r>
          </a:p>
          <a:p>
            <a:endParaRPr lang="en-US" dirty="0"/>
          </a:p>
          <a:p>
            <a:r>
              <a:rPr lang="en-IN" dirty="0"/>
              <a:t>Cities like Innsbruck, Lake Placid, Los Angeles, Paris, Sankt Moritz and Stockholm have hosted twice.</a:t>
            </a:r>
          </a:p>
        </p:txBody>
      </p:sp>
      <p:pic>
        <p:nvPicPr>
          <p:cNvPr id="8" name="Picture 7">
            <a:extLst>
              <a:ext uri="{FF2B5EF4-FFF2-40B4-BE49-F238E27FC236}">
                <a16:creationId xmlns:a16="http://schemas.microsoft.com/office/drawing/2014/main" id="{F2755248-C71A-D27F-3409-0B43F947A7A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188721"/>
            <a:ext cx="9165771" cy="5627914"/>
          </a:xfrm>
          <a:prstGeom prst="rect">
            <a:avLst/>
          </a:prstGeom>
          <a:ln w="38100">
            <a:noFill/>
          </a:ln>
        </p:spPr>
      </p:pic>
    </p:spTree>
    <p:extLst>
      <p:ext uri="{BB962C8B-B14F-4D97-AF65-F5344CB8AC3E}">
        <p14:creationId xmlns:p14="http://schemas.microsoft.com/office/powerpoint/2010/main" val="4213663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B503A-D1F7-558D-B6C0-041F4E77F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50092-0892-7CA8-A0C4-B2F8F0BD9631}"/>
              </a:ext>
            </a:extLst>
          </p:cNvPr>
          <p:cNvSpPr>
            <a:spLocks noGrp="1"/>
          </p:cNvSpPr>
          <p:nvPr>
            <p:ph type="title"/>
          </p:nvPr>
        </p:nvSpPr>
        <p:spPr>
          <a:xfrm>
            <a:off x="-1" y="0"/>
            <a:ext cx="12192001" cy="1188720"/>
          </a:xfrm>
        </p:spPr>
        <p:txBody>
          <a:bodyPr>
            <a:normAutofit/>
          </a:bodyPr>
          <a:lstStyle/>
          <a:p>
            <a:r>
              <a:rPr lang="en-IN" b="1" dirty="0"/>
              <a:t>4. What is the distribution of sports between Summer and Winter Olympics?</a:t>
            </a:r>
            <a:endParaRPr lang="en-IN" dirty="0"/>
          </a:p>
        </p:txBody>
      </p:sp>
      <p:sp>
        <p:nvSpPr>
          <p:cNvPr id="5" name="Content Placeholder 2">
            <a:extLst>
              <a:ext uri="{FF2B5EF4-FFF2-40B4-BE49-F238E27FC236}">
                <a16:creationId xmlns:a16="http://schemas.microsoft.com/office/drawing/2014/main" id="{5F30E0CF-AA75-0BD1-021A-CD3FD272E61E}"/>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The </a:t>
            </a:r>
            <a:r>
              <a:rPr lang="en-IN" dirty="0" err="1"/>
              <a:t>TreeMap</a:t>
            </a:r>
            <a:r>
              <a:rPr lang="en-IN" dirty="0"/>
              <a:t> shows that the Summer Olympics include a significantly larger variety of sports compared to the Winter Olympics.</a:t>
            </a:r>
          </a:p>
          <a:p>
            <a:r>
              <a:rPr lang="en-IN" dirty="0"/>
              <a:t> This reflects broader global participation and more accessible sporting disciplines in summer, while winter sports are more niche and climate-dependent.</a:t>
            </a:r>
          </a:p>
          <a:p>
            <a:endParaRPr lang="en-IN" dirty="0"/>
          </a:p>
        </p:txBody>
      </p:sp>
      <p:pic>
        <p:nvPicPr>
          <p:cNvPr id="4" name="Picture 3">
            <a:extLst>
              <a:ext uri="{FF2B5EF4-FFF2-40B4-BE49-F238E27FC236}">
                <a16:creationId xmlns:a16="http://schemas.microsoft.com/office/drawing/2014/main" id="{AEBDB4BA-DABD-C849-5568-A0BB12FE7765}"/>
              </a:ext>
            </a:extLst>
          </p:cNvPr>
          <p:cNvPicPr>
            <a:picLocks noChangeAspect="1"/>
          </p:cNvPicPr>
          <p:nvPr/>
        </p:nvPicPr>
        <p:blipFill>
          <a:blip r:embed="rId2">
            <a:clrChange>
              <a:clrFrom>
                <a:srgbClr val="FFFFFF"/>
              </a:clrFrom>
              <a:clrTo>
                <a:srgbClr val="FFFFFF">
                  <a:alpha val="0"/>
                </a:srgbClr>
              </a:clrTo>
            </a:clrChange>
          </a:blip>
          <a:srcRect t="2279"/>
          <a:stretch>
            <a:fillRect/>
          </a:stretch>
        </p:blipFill>
        <p:spPr>
          <a:xfrm>
            <a:off x="-1" y="1188720"/>
            <a:ext cx="9165772" cy="5731123"/>
          </a:xfrm>
          <a:prstGeom prst="rect">
            <a:avLst/>
          </a:prstGeom>
          <a:ln w="38100">
            <a:noFill/>
          </a:ln>
        </p:spPr>
      </p:pic>
    </p:spTree>
    <p:extLst>
      <p:ext uri="{BB962C8B-B14F-4D97-AF65-F5344CB8AC3E}">
        <p14:creationId xmlns:p14="http://schemas.microsoft.com/office/powerpoint/2010/main" val="4217994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B8A17-17D8-1B8C-9731-9215E05DA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9B7A9-6519-4615-0C19-0FFADB6354E4}"/>
              </a:ext>
            </a:extLst>
          </p:cNvPr>
          <p:cNvSpPr>
            <a:spLocks noGrp="1"/>
          </p:cNvSpPr>
          <p:nvPr>
            <p:ph type="title"/>
          </p:nvPr>
        </p:nvSpPr>
        <p:spPr>
          <a:xfrm>
            <a:off x="-1" y="0"/>
            <a:ext cx="12192001" cy="1188720"/>
          </a:xfrm>
        </p:spPr>
        <p:txBody>
          <a:bodyPr>
            <a:normAutofit/>
          </a:bodyPr>
          <a:lstStyle/>
          <a:p>
            <a:r>
              <a:rPr lang="en-IN" b="1" dirty="0"/>
              <a:t>5.Which sports have the highest number of events in the Olympics?</a:t>
            </a:r>
            <a:endParaRPr lang="en-IN" dirty="0"/>
          </a:p>
        </p:txBody>
      </p:sp>
      <p:sp>
        <p:nvSpPr>
          <p:cNvPr id="5" name="Content Placeholder 2">
            <a:extLst>
              <a:ext uri="{FF2B5EF4-FFF2-40B4-BE49-F238E27FC236}">
                <a16:creationId xmlns:a16="http://schemas.microsoft.com/office/drawing/2014/main" id="{CC09970F-2D41-7A5A-7D25-77B37B8F572D}"/>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This Clustered Bar Chart reveals that both Athletics and Shooting have highest number of sports- </a:t>
            </a:r>
            <a:r>
              <a:rPr lang="en-US" dirty="0" err="1"/>
              <a:t>i.e</a:t>
            </a:r>
            <a:r>
              <a:rPr lang="en-US" dirty="0"/>
              <a:t> 83 in the entire Olympics game starting from 1896.</a:t>
            </a:r>
          </a:p>
          <a:p>
            <a:pPr marL="0" indent="0">
              <a:buNone/>
            </a:pPr>
            <a:endParaRPr lang="en-IN" dirty="0"/>
          </a:p>
        </p:txBody>
      </p:sp>
      <p:pic>
        <p:nvPicPr>
          <p:cNvPr id="4" name="Picture 3">
            <a:extLst>
              <a:ext uri="{FF2B5EF4-FFF2-40B4-BE49-F238E27FC236}">
                <a16:creationId xmlns:a16="http://schemas.microsoft.com/office/drawing/2014/main" id="{3D04BADF-4B75-41FB-8BA6-7040ACFE3CF7}"/>
              </a:ext>
            </a:extLst>
          </p:cNvPr>
          <p:cNvPicPr>
            <a:picLocks noChangeAspect="1"/>
          </p:cNvPicPr>
          <p:nvPr/>
        </p:nvPicPr>
        <p:blipFill>
          <a:blip r:embed="rId2">
            <a:clrChange>
              <a:clrFrom>
                <a:srgbClr val="FFFFFF"/>
              </a:clrFrom>
              <a:clrTo>
                <a:srgbClr val="FFFFFF">
                  <a:alpha val="0"/>
                </a:srgbClr>
              </a:clrTo>
            </a:clrChange>
          </a:blip>
          <a:srcRect/>
          <a:stretch>
            <a:fillRect/>
          </a:stretch>
        </p:blipFill>
        <p:spPr>
          <a:xfrm>
            <a:off x="0" y="1188720"/>
            <a:ext cx="9187505" cy="5669280"/>
          </a:xfrm>
          <a:prstGeom prst="rect">
            <a:avLst/>
          </a:prstGeom>
        </p:spPr>
      </p:pic>
    </p:spTree>
    <p:extLst>
      <p:ext uri="{BB962C8B-B14F-4D97-AF65-F5344CB8AC3E}">
        <p14:creationId xmlns:p14="http://schemas.microsoft.com/office/powerpoint/2010/main" val="4151029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F3C5E-74DC-AA83-6F59-2366F1894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DC955-8EA2-6572-64E0-B70A431EF84B}"/>
              </a:ext>
            </a:extLst>
          </p:cNvPr>
          <p:cNvSpPr>
            <a:spLocks noGrp="1"/>
          </p:cNvSpPr>
          <p:nvPr>
            <p:ph type="title"/>
          </p:nvPr>
        </p:nvSpPr>
        <p:spPr>
          <a:xfrm>
            <a:off x="-1" y="0"/>
            <a:ext cx="12192001" cy="1188720"/>
          </a:xfrm>
        </p:spPr>
        <p:txBody>
          <a:bodyPr>
            <a:normAutofit/>
          </a:bodyPr>
          <a:lstStyle/>
          <a:p>
            <a:r>
              <a:rPr lang="en-IN" dirty="0"/>
              <a:t>6.</a:t>
            </a:r>
            <a:r>
              <a:rPr lang="en-IN" b="1" dirty="0"/>
              <a:t> How has the participation in each sport evolved over time?</a:t>
            </a:r>
            <a:endParaRPr lang="en-IN" dirty="0"/>
          </a:p>
        </p:txBody>
      </p:sp>
      <p:sp>
        <p:nvSpPr>
          <p:cNvPr id="5" name="Content Placeholder 2">
            <a:extLst>
              <a:ext uri="{FF2B5EF4-FFF2-40B4-BE49-F238E27FC236}">
                <a16:creationId xmlns:a16="http://schemas.microsoft.com/office/drawing/2014/main" id="{C3E6F4D8-78DF-67C9-969D-D554748B61EC}"/>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This multiple Stacked Area Chart indicates that participation in most sports has increased over time</a:t>
            </a:r>
          </a:p>
        </p:txBody>
      </p:sp>
      <p:pic>
        <p:nvPicPr>
          <p:cNvPr id="4" name="Picture 3">
            <a:extLst>
              <a:ext uri="{FF2B5EF4-FFF2-40B4-BE49-F238E27FC236}">
                <a16:creationId xmlns:a16="http://schemas.microsoft.com/office/drawing/2014/main" id="{05707604-B45A-600E-7905-8008D7E659D6}"/>
              </a:ext>
            </a:extLst>
          </p:cNvPr>
          <p:cNvPicPr>
            <a:picLocks noChangeAspect="1"/>
          </p:cNvPicPr>
          <p:nvPr/>
        </p:nvPicPr>
        <p:blipFill>
          <a:blip r:embed="rId2">
            <a:clrChange>
              <a:clrFrom>
                <a:srgbClr val="FFFFFF"/>
              </a:clrFrom>
              <a:clrTo>
                <a:srgbClr val="FFFFFF">
                  <a:alpha val="0"/>
                </a:srgbClr>
              </a:clrTo>
            </a:clrChange>
          </a:blip>
          <a:srcRect t="2977" r="2885"/>
          <a:stretch>
            <a:fillRect/>
          </a:stretch>
        </p:blipFill>
        <p:spPr>
          <a:xfrm>
            <a:off x="0" y="1188720"/>
            <a:ext cx="9165771" cy="5769227"/>
          </a:xfrm>
          <a:prstGeom prst="rect">
            <a:avLst/>
          </a:prstGeom>
        </p:spPr>
      </p:pic>
    </p:spTree>
    <p:extLst>
      <p:ext uri="{BB962C8B-B14F-4D97-AF65-F5344CB8AC3E}">
        <p14:creationId xmlns:p14="http://schemas.microsoft.com/office/powerpoint/2010/main" val="2772713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9E24C-085C-41C3-515D-BEC680C1F5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9979E-CF53-7C19-2C31-1863525D600D}"/>
              </a:ext>
            </a:extLst>
          </p:cNvPr>
          <p:cNvSpPr>
            <a:spLocks noGrp="1"/>
          </p:cNvSpPr>
          <p:nvPr>
            <p:ph type="title"/>
          </p:nvPr>
        </p:nvSpPr>
        <p:spPr>
          <a:xfrm>
            <a:off x="-1" y="0"/>
            <a:ext cx="12192001" cy="1188720"/>
          </a:xfrm>
        </p:spPr>
        <p:txBody>
          <a:bodyPr>
            <a:normAutofit/>
          </a:bodyPr>
          <a:lstStyle/>
          <a:p>
            <a:r>
              <a:rPr lang="en-IN" b="1" dirty="0"/>
              <a:t>7.How many events are there in each sport?</a:t>
            </a:r>
            <a:endParaRPr lang="en-IN" dirty="0"/>
          </a:p>
        </p:txBody>
      </p:sp>
      <p:sp>
        <p:nvSpPr>
          <p:cNvPr id="5" name="Content Placeholder 2">
            <a:extLst>
              <a:ext uri="{FF2B5EF4-FFF2-40B4-BE49-F238E27FC236}">
                <a16:creationId xmlns:a16="http://schemas.microsoft.com/office/drawing/2014/main" id="{690F94C9-7D78-CC42-BF6A-4DFA76F9031A}"/>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The Donut Chart shows that the number of events varies significantly across sports, with disciplines like Athletics (14.32%), Gymnastics (9.76%) and swimming (8.66%) as Top3. </a:t>
            </a:r>
          </a:p>
        </p:txBody>
      </p:sp>
      <p:pic>
        <p:nvPicPr>
          <p:cNvPr id="4" name="Picture 3">
            <a:extLst>
              <a:ext uri="{FF2B5EF4-FFF2-40B4-BE49-F238E27FC236}">
                <a16:creationId xmlns:a16="http://schemas.microsoft.com/office/drawing/2014/main" id="{3926F346-4B66-48A8-67BE-5593D3D7C3A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188720"/>
            <a:ext cx="9354856" cy="5669280"/>
          </a:xfrm>
          <a:prstGeom prst="rect">
            <a:avLst/>
          </a:prstGeom>
        </p:spPr>
      </p:pic>
    </p:spTree>
    <p:extLst>
      <p:ext uri="{BB962C8B-B14F-4D97-AF65-F5344CB8AC3E}">
        <p14:creationId xmlns:p14="http://schemas.microsoft.com/office/powerpoint/2010/main" val="3502237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34429-8198-0CA8-3449-812B77362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98622-97DA-9739-DCB8-E2611B9A79FD}"/>
              </a:ext>
            </a:extLst>
          </p:cNvPr>
          <p:cNvSpPr>
            <a:spLocks noGrp="1"/>
          </p:cNvSpPr>
          <p:nvPr>
            <p:ph type="title"/>
          </p:nvPr>
        </p:nvSpPr>
        <p:spPr>
          <a:xfrm>
            <a:off x="-1" y="0"/>
            <a:ext cx="12192001" cy="1188720"/>
          </a:xfrm>
        </p:spPr>
        <p:txBody>
          <a:bodyPr>
            <a:normAutofit/>
          </a:bodyPr>
          <a:lstStyle/>
          <a:p>
            <a:r>
              <a:rPr lang="en-IN" b="1" dirty="0"/>
              <a:t>8. What is the distribution of events by gender (Men, Women, Mixed)?</a:t>
            </a:r>
            <a:endParaRPr lang="en-IN" dirty="0"/>
          </a:p>
        </p:txBody>
      </p:sp>
      <p:sp>
        <p:nvSpPr>
          <p:cNvPr id="5" name="Content Placeholder 2">
            <a:extLst>
              <a:ext uri="{FF2B5EF4-FFF2-40B4-BE49-F238E27FC236}">
                <a16:creationId xmlns:a16="http://schemas.microsoft.com/office/drawing/2014/main" id="{6C678C54-7C0D-E144-DA77-FA665B79C391}"/>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While men’s events historically dominated, the number of women’s has steadily increased, especially in recent editions. While no data was found for Mixed gender, we may see it in the future games. </a:t>
            </a:r>
          </a:p>
          <a:p>
            <a:endParaRPr lang="en-IN" dirty="0"/>
          </a:p>
        </p:txBody>
      </p:sp>
      <p:pic>
        <p:nvPicPr>
          <p:cNvPr id="4" name="Picture 3">
            <a:extLst>
              <a:ext uri="{FF2B5EF4-FFF2-40B4-BE49-F238E27FC236}">
                <a16:creationId xmlns:a16="http://schemas.microsoft.com/office/drawing/2014/main" id="{80A562A0-720C-75C5-3FEA-412B5A28461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188720"/>
            <a:ext cx="8049748" cy="5669280"/>
          </a:xfrm>
          <a:prstGeom prst="rect">
            <a:avLst/>
          </a:prstGeom>
        </p:spPr>
      </p:pic>
    </p:spTree>
    <p:extLst>
      <p:ext uri="{BB962C8B-B14F-4D97-AF65-F5344CB8AC3E}">
        <p14:creationId xmlns:p14="http://schemas.microsoft.com/office/powerpoint/2010/main" val="94382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6065-B8CC-431D-7793-F7ADD4500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E3108-0F7E-FE17-A80F-C4AA2CA9C2AC}"/>
              </a:ext>
            </a:extLst>
          </p:cNvPr>
          <p:cNvSpPr>
            <a:spLocks noGrp="1"/>
          </p:cNvSpPr>
          <p:nvPr>
            <p:ph type="title"/>
          </p:nvPr>
        </p:nvSpPr>
        <p:spPr>
          <a:xfrm>
            <a:off x="-1" y="0"/>
            <a:ext cx="12192001" cy="1188720"/>
          </a:xfrm>
        </p:spPr>
        <p:txBody>
          <a:bodyPr>
            <a:normAutofit/>
          </a:bodyPr>
          <a:lstStyle/>
          <a:p>
            <a:r>
              <a:rPr lang="en-IN" b="1" dirty="0"/>
              <a:t>9. How has the number of events changed over time?</a:t>
            </a:r>
            <a:endParaRPr lang="en-IN" dirty="0"/>
          </a:p>
        </p:txBody>
      </p:sp>
      <p:sp>
        <p:nvSpPr>
          <p:cNvPr id="5" name="Content Placeholder 2">
            <a:extLst>
              <a:ext uri="{FF2B5EF4-FFF2-40B4-BE49-F238E27FC236}">
                <a16:creationId xmlns:a16="http://schemas.microsoft.com/office/drawing/2014/main" id="{73144CFE-3A5E-5E77-EB44-5EC6D807DC49}"/>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The Line Chart representation detects that the number of Olympic events has steadily increased over time, owing to the addition of new sports and disciplines.</a:t>
            </a:r>
          </a:p>
          <a:p>
            <a:r>
              <a:rPr lang="en-IN" dirty="0"/>
              <a:t>Highest was in 2000 Summer Olympics – 13,815 events and lowest was in 1896 Summer Olympics- 217 events.</a:t>
            </a:r>
          </a:p>
        </p:txBody>
      </p:sp>
      <p:pic>
        <p:nvPicPr>
          <p:cNvPr id="4" name="Picture 3">
            <a:extLst>
              <a:ext uri="{FF2B5EF4-FFF2-40B4-BE49-F238E27FC236}">
                <a16:creationId xmlns:a16="http://schemas.microsoft.com/office/drawing/2014/main" id="{D958CD59-FA2E-C6E3-A4D5-14D2F6C241DC}"/>
              </a:ext>
            </a:extLst>
          </p:cNvPr>
          <p:cNvPicPr>
            <a:picLocks noChangeAspect="1"/>
          </p:cNvPicPr>
          <p:nvPr/>
        </p:nvPicPr>
        <p:blipFill>
          <a:blip r:embed="rId2">
            <a:clrChange>
              <a:clrFrom>
                <a:srgbClr val="FFFFFF"/>
              </a:clrFrom>
              <a:clrTo>
                <a:srgbClr val="FFFFFF">
                  <a:alpha val="0"/>
                </a:srgbClr>
              </a:clrTo>
            </a:clrChange>
          </a:blip>
          <a:srcRect t="2304"/>
          <a:stretch>
            <a:fillRect/>
          </a:stretch>
        </p:blipFill>
        <p:spPr>
          <a:xfrm>
            <a:off x="-1" y="1319348"/>
            <a:ext cx="9361715" cy="5538651"/>
          </a:xfrm>
          <a:prstGeom prst="rect">
            <a:avLst/>
          </a:prstGeom>
        </p:spPr>
      </p:pic>
    </p:spTree>
    <p:extLst>
      <p:ext uri="{BB962C8B-B14F-4D97-AF65-F5344CB8AC3E}">
        <p14:creationId xmlns:p14="http://schemas.microsoft.com/office/powerpoint/2010/main" val="4203017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5E6D6-6CA1-163B-2D90-AFAF1A58B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E1913-8173-E496-8727-840AC9807209}"/>
              </a:ext>
            </a:extLst>
          </p:cNvPr>
          <p:cNvSpPr>
            <a:spLocks noGrp="1"/>
          </p:cNvSpPr>
          <p:nvPr>
            <p:ph type="title"/>
          </p:nvPr>
        </p:nvSpPr>
        <p:spPr>
          <a:xfrm>
            <a:off x="-1" y="0"/>
            <a:ext cx="12192001" cy="1188720"/>
          </a:xfrm>
        </p:spPr>
        <p:txBody>
          <a:bodyPr>
            <a:normAutofit/>
          </a:bodyPr>
          <a:lstStyle/>
          <a:p>
            <a:r>
              <a:rPr lang="en-IN" b="1" dirty="0"/>
              <a:t>10. What is the distribution of participants by gender?</a:t>
            </a:r>
            <a:endParaRPr lang="en-IN" dirty="0"/>
          </a:p>
        </p:txBody>
      </p:sp>
      <p:sp>
        <p:nvSpPr>
          <p:cNvPr id="5" name="Content Placeholder 2">
            <a:extLst>
              <a:ext uri="{FF2B5EF4-FFF2-40B4-BE49-F238E27FC236}">
                <a16:creationId xmlns:a16="http://schemas.microsoft.com/office/drawing/2014/main" id="{55F174DD-6E99-2861-0EDE-4CEA6B45D372}"/>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The pie-chart states that male participants are dominant – 73% than females.</a:t>
            </a:r>
          </a:p>
          <a:p>
            <a:r>
              <a:rPr lang="en-IN" dirty="0"/>
              <a:t>However, the gender gap has narrowed significantly in recent decades. </a:t>
            </a:r>
          </a:p>
        </p:txBody>
      </p:sp>
      <p:pic>
        <p:nvPicPr>
          <p:cNvPr id="3" name="Picture 2">
            <a:extLst>
              <a:ext uri="{FF2B5EF4-FFF2-40B4-BE49-F238E27FC236}">
                <a16:creationId xmlns:a16="http://schemas.microsoft.com/office/drawing/2014/main" id="{7F06ED94-1111-CBE1-A2FE-FF828FCE7407}"/>
              </a:ext>
            </a:extLst>
          </p:cNvPr>
          <p:cNvPicPr>
            <a:picLocks noChangeAspect="1"/>
          </p:cNvPicPr>
          <p:nvPr/>
        </p:nvPicPr>
        <p:blipFill rotWithShape="1">
          <a:blip r:embed="rId2">
            <a:clrChange>
              <a:clrFrom>
                <a:srgbClr val="FFFFFF"/>
              </a:clrFrom>
              <a:clrTo>
                <a:srgbClr val="FFFFFF">
                  <a:alpha val="0"/>
                </a:srgbClr>
              </a:clrTo>
            </a:clrChange>
          </a:blip>
          <a:srcRect l="2263" t="1456"/>
          <a:stretch>
            <a:fillRect/>
          </a:stretch>
        </p:blipFill>
        <p:spPr bwMode="auto">
          <a:xfrm>
            <a:off x="0" y="1188721"/>
            <a:ext cx="8038695" cy="56692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71278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371F8-1C4D-A145-81BF-E355AD892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5944F-56D5-79A2-7160-AADFEA19DC45}"/>
              </a:ext>
            </a:extLst>
          </p:cNvPr>
          <p:cNvSpPr>
            <a:spLocks noGrp="1"/>
          </p:cNvSpPr>
          <p:nvPr>
            <p:ph type="title"/>
          </p:nvPr>
        </p:nvSpPr>
        <p:spPr>
          <a:xfrm>
            <a:off x="-1" y="0"/>
            <a:ext cx="12192001" cy="1188720"/>
          </a:xfrm>
        </p:spPr>
        <p:txBody>
          <a:bodyPr>
            <a:normAutofit/>
          </a:bodyPr>
          <a:lstStyle/>
          <a:p>
            <a:r>
              <a:rPr lang="en-IN" b="1" dirty="0"/>
              <a:t>11. Which countries have the highest number of participants in the Olympics?</a:t>
            </a:r>
            <a:endParaRPr lang="en-IN" dirty="0"/>
          </a:p>
        </p:txBody>
      </p:sp>
      <p:sp>
        <p:nvSpPr>
          <p:cNvPr id="5" name="Content Placeholder 2">
            <a:extLst>
              <a:ext uri="{FF2B5EF4-FFF2-40B4-BE49-F238E27FC236}">
                <a16:creationId xmlns:a16="http://schemas.microsoft.com/office/drawing/2014/main" id="{3BFE5260-987D-1EBF-EE8F-4FADA43C9AC3}"/>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Total participation in entire 51 years of Olympics was 135571.</a:t>
            </a:r>
          </a:p>
          <a:p>
            <a:r>
              <a:rPr lang="en-IN" dirty="0"/>
              <a:t>The Area Chart mentions that United States has the highest participation record of 9225, followed by United Kingdom – 5783.</a:t>
            </a:r>
          </a:p>
          <a:p>
            <a:r>
              <a:rPr lang="en-IN" dirty="0"/>
              <a:t>The chart also reveals countries like </a:t>
            </a:r>
            <a:r>
              <a:rPr lang="en-IN" dirty="0" err="1"/>
              <a:t>Somania</a:t>
            </a:r>
            <a:r>
              <a:rPr lang="en-IN" dirty="0"/>
              <a:t>, Yemen, Qatar, Nepal have hardly 1 person participation.</a:t>
            </a:r>
          </a:p>
          <a:p>
            <a:endParaRPr lang="en-IN" dirty="0"/>
          </a:p>
          <a:p>
            <a:pPr marL="0" indent="0">
              <a:buNone/>
            </a:pPr>
            <a:endParaRPr lang="en-IN" dirty="0"/>
          </a:p>
        </p:txBody>
      </p:sp>
      <p:pic>
        <p:nvPicPr>
          <p:cNvPr id="4" name="Picture 3">
            <a:extLst>
              <a:ext uri="{FF2B5EF4-FFF2-40B4-BE49-F238E27FC236}">
                <a16:creationId xmlns:a16="http://schemas.microsoft.com/office/drawing/2014/main" id="{A9B3174C-53C7-E574-F217-AF69C2DE6DA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188720"/>
            <a:ext cx="9263744" cy="5723709"/>
          </a:xfrm>
          <a:prstGeom prst="rect">
            <a:avLst/>
          </a:prstGeom>
        </p:spPr>
      </p:pic>
    </p:spTree>
    <p:extLst>
      <p:ext uri="{BB962C8B-B14F-4D97-AF65-F5344CB8AC3E}">
        <p14:creationId xmlns:p14="http://schemas.microsoft.com/office/powerpoint/2010/main" val="94448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D1DA-B9EA-0FDD-0D09-E5341038C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00BE5-B3B5-3471-A633-5FCC56D70500}"/>
              </a:ext>
            </a:extLst>
          </p:cNvPr>
          <p:cNvSpPr>
            <a:spLocks noGrp="1"/>
          </p:cNvSpPr>
          <p:nvPr>
            <p:ph type="title"/>
          </p:nvPr>
        </p:nvSpPr>
        <p:spPr>
          <a:xfrm>
            <a:off x="-1" y="0"/>
            <a:ext cx="12192001" cy="1188720"/>
          </a:xfrm>
        </p:spPr>
        <p:txBody>
          <a:bodyPr>
            <a:normAutofit/>
          </a:bodyPr>
          <a:lstStyle/>
          <a:p>
            <a:r>
              <a:rPr lang="en-IN" b="1" dirty="0"/>
              <a:t>12.How does the age distribution of participants vary across different games?</a:t>
            </a:r>
            <a:endParaRPr lang="en-IN" dirty="0"/>
          </a:p>
        </p:txBody>
      </p:sp>
      <p:sp>
        <p:nvSpPr>
          <p:cNvPr id="5" name="Content Placeholder 2">
            <a:extLst>
              <a:ext uri="{FF2B5EF4-FFF2-40B4-BE49-F238E27FC236}">
                <a16:creationId xmlns:a16="http://schemas.microsoft.com/office/drawing/2014/main" id="{A674C6D5-709D-4555-71EE-788A6B7130A4}"/>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The age of the participants ranges from 10 to 97.</a:t>
            </a:r>
          </a:p>
          <a:p>
            <a:r>
              <a:rPr lang="en-IN" dirty="0"/>
              <a:t>The Clustered Column Chart age distribution of Olympic participants varies across different average ages from 23yrs old to 31yrs old.</a:t>
            </a:r>
          </a:p>
        </p:txBody>
      </p:sp>
      <p:pic>
        <p:nvPicPr>
          <p:cNvPr id="7" name="Picture 6">
            <a:extLst>
              <a:ext uri="{FF2B5EF4-FFF2-40B4-BE49-F238E27FC236}">
                <a16:creationId xmlns:a16="http://schemas.microsoft.com/office/drawing/2014/main" id="{A278CA79-7016-DC96-3A03-41F6053BCF8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188720"/>
            <a:ext cx="9165772" cy="5669280"/>
          </a:xfrm>
          <a:prstGeom prst="rect">
            <a:avLst/>
          </a:prstGeom>
        </p:spPr>
      </p:pic>
    </p:spTree>
    <p:extLst>
      <p:ext uri="{BB962C8B-B14F-4D97-AF65-F5344CB8AC3E}">
        <p14:creationId xmlns:p14="http://schemas.microsoft.com/office/powerpoint/2010/main" val="716496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FC56C-EAFB-A54A-4E6A-946719DC1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7CB9E-8923-AA76-3380-7B89FF619C09}"/>
              </a:ext>
            </a:extLst>
          </p:cNvPr>
          <p:cNvSpPr>
            <a:spLocks noGrp="1"/>
          </p:cNvSpPr>
          <p:nvPr>
            <p:ph type="title"/>
          </p:nvPr>
        </p:nvSpPr>
        <p:spPr>
          <a:xfrm>
            <a:off x="-1" y="0"/>
            <a:ext cx="12192001" cy="1188720"/>
          </a:xfrm>
        </p:spPr>
        <p:txBody>
          <a:bodyPr>
            <a:normAutofit/>
          </a:bodyPr>
          <a:lstStyle/>
          <a:p>
            <a:r>
              <a:rPr lang="en-IN" b="1" dirty="0"/>
              <a:t>13. How many medals have been awarded in each Olympics?</a:t>
            </a:r>
            <a:endParaRPr lang="en-IN" dirty="0"/>
          </a:p>
        </p:txBody>
      </p:sp>
      <p:sp>
        <p:nvSpPr>
          <p:cNvPr id="5" name="Content Placeholder 2">
            <a:extLst>
              <a:ext uri="{FF2B5EF4-FFF2-40B4-BE49-F238E27FC236}">
                <a16:creationId xmlns:a16="http://schemas.microsoft.com/office/drawing/2014/main" id="{1BEA538F-4331-AD47-EE13-73B6863FD922}"/>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IN" dirty="0"/>
              <a:t>From this Clustered Column chart- The number of medals awarded has steadily increased over the years, with recent Summer Olympics (2008–2016) awarding the highest number of medals — over 13,815 per edition,</a:t>
            </a:r>
          </a:p>
        </p:txBody>
      </p:sp>
      <p:pic>
        <p:nvPicPr>
          <p:cNvPr id="6" name="Picture 5">
            <a:extLst>
              <a:ext uri="{FF2B5EF4-FFF2-40B4-BE49-F238E27FC236}">
                <a16:creationId xmlns:a16="http://schemas.microsoft.com/office/drawing/2014/main" id="{E2FB1C33-59B7-5C45-D6E5-BD61EBCF4F77}"/>
              </a:ext>
            </a:extLst>
          </p:cNvPr>
          <p:cNvPicPr>
            <a:picLocks noChangeAspect="1"/>
          </p:cNvPicPr>
          <p:nvPr/>
        </p:nvPicPr>
        <p:blipFill>
          <a:blip r:embed="rId2">
            <a:clrChange>
              <a:clrFrom>
                <a:srgbClr val="FFFFFF"/>
              </a:clrFrom>
              <a:clrTo>
                <a:srgbClr val="FFFFFF">
                  <a:alpha val="0"/>
                </a:srgbClr>
              </a:clrTo>
            </a:clrChange>
          </a:blip>
          <a:srcRect t="2271"/>
          <a:stretch>
            <a:fillRect/>
          </a:stretch>
        </p:blipFill>
        <p:spPr>
          <a:xfrm>
            <a:off x="0" y="1188720"/>
            <a:ext cx="9165771" cy="5750625"/>
          </a:xfrm>
          <a:prstGeom prst="rect">
            <a:avLst/>
          </a:prstGeom>
        </p:spPr>
      </p:pic>
    </p:spTree>
    <p:extLst>
      <p:ext uri="{BB962C8B-B14F-4D97-AF65-F5344CB8AC3E}">
        <p14:creationId xmlns:p14="http://schemas.microsoft.com/office/powerpoint/2010/main" val="679601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AE663-7A91-67F5-7D0C-6B85B65FD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CE9D6-EBC3-1D13-EB69-B50BF7F6E92B}"/>
              </a:ext>
            </a:extLst>
          </p:cNvPr>
          <p:cNvSpPr>
            <a:spLocks noGrp="1"/>
          </p:cNvSpPr>
          <p:nvPr>
            <p:ph type="title"/>
          </p:nvPr>
        </p:nvSpPr>
        <p:spPr>
          <a:xfrm>
            <a:off x="-1" y="0"/>
            <a:ext cx="12192001" cy="1188720"/>
          </a:xfrm>
        </p:spPr>
        <p:txBody>
          <a:bodyPr>
            <a:normAutofit/>
          </a:bodyPr>
          <a:lstStyle/>
          <a:p>
            <a:r>
              <a:rPr lang="en-IN" b="1" dirty="0"/>
              <a:t>14. Which countries have the highest number of gold medals?</a:t>
            </a:r>
            <a:endParaRPr lang="en-IN" dirty="0"/>
          </a:p>
        </p:txBody>
      </p:sp>
      <p:sp>
        <p:nvSpPr>
          <p:cNvPr id="5" name="Content Placeholder 2">
            <a:extLst>
              <a:ext uri="{FF2B5EF4-FFF2-40B4-BE49-F238E27FC236}">
                <a16:creationId xmlns:a16="http://schemas.microsoft.com/office/drawing/2014/main" id="{B34E6ACB-2021-709A-17D4-1178C0C5878F}"/>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As we can see from the Clustered Bar Chart that  The United States leads overwhelmingly with 2,533 gold medals, more than double that of the second-highest country. This reflects consistent excellence across multiple sports and Olympic editions.</a:t>
            </a:r>
            <a:endParaRPr lang="en-IN" dirty="0"/>
          </a:p>
        </p:txBody>
      </p:sp>
      <p:pic>
        <p:nvPicPr>
          <p:cNvPr id="3" name="Picture 2">
            <a:extLst>
              <a:ext uri="{FF2B5EF4-FFF2-40B4-BE49-F238E27FC236}">
                <a16:creationId xmlns:a16="http://schemas.microsoft.com/office/drawing/2014/main" id="{7589CC9B-4B0C-C75C-1CD6-25A3E979E212}"/>
              </a:ext>
            </a:extLst>
          </p:cNvPr>
          <p:cNvPicPr>
            <a:picLocks noChangeAspect="1"/>
          </p:cNvPicPr>
          <p:nvPr/>
        </p:nvPicPr>
        <p:blipFill rotWithShape="1">
          <a:blip r:embed="rId2">
            <a:clrChange>
              <a:clrFrom>
                <a:srgbClr val="FFFFFF"/>
              </a:clrFrom>
              <a:clrTo>
                <a:srgbClr val="FFFFFF">
                  <a:alpha val="0"/>
                </a:srgbClr>
              </a:clrTo>
            </a:clrChange>
          </a:blip>
          <a:srcRect t="3005"/>
          <a:stretch>
            <a:fillRect/>
          </a:stretch>
        </p:blipFill>
        <p:spPr bwMode="auto">
          <a:xfrm>
            <a:off x="-1" y="1188720"/>
            <a:ext cx="9252858" cy="56692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90756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FA1F2-7813-6066-28AD-304E19C58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A75A4-E7F8-8652-BE14-38EB9F095344}"/>
              </a:ext>
            </a:extLst>
          </p:cNvPr>
          <p:cNvSpPr>
            <a:spLocks noGrp="1"/>
          </p:cNvSpPr>
          <p:nvPr>
            <p:ph type="title"/>
          </p:nvPr>
        </p:nvSpPr>
        <p:spPr>
          <a:xfrm>
            <a:off x="-1" y="0"/>
            <a:ext cx="12192001" cy="1188720"/>
          </a:xfrm>
        </p:spPr>
        <p:txBody>
          <a:bodyPr>
            <a:normAutofit/>
          </a:bodyPr>
          <a:lstStyle/>
          <a:p>
            <a:r>
              <a:rPr lang="en-IN" b="1" dirty="0"/>
              <a:t>15.How does the medal distribution vary across different sports?</a:t>
            </a:r>
            <a:endParaRPr lang="en-IN" dirty="0"/>
          </a:p>
        </p:txBody>
      </p:sp>
      <p:sp>
        <p:nvSpPr>
          <p:cNvPr id="5" name="Content Placeholder 2">
            <a:extLst>
              <a:ext uri="{FF2B5EF4-FFF2-40B4-BE49-F238E27FC236}">
                <a16:creationId xmlns:a16="http://schemas.microsoft.com/office/drawing/2014/main" id="{401A8E26-678F-D1BE-7668-B137195D359E}"/>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As we can see from the Stacked Column Chart that Athletics leads by a significant margin with the highest number of total medals (3892), followed by Swimming and Rowing.</a:t>
            </a:r>
            <a:endParaRPr lang="en-IN" dirty="0"/>
          </a:p>
        </p:txBody>
      </p:sp>
      <p:pic>
        <p:nvPicPr>
          <p:cNvPr id="3" name="Picture 2">
            <a:extLst>
              <a:ext uri="{FF2B5EF4-FFF2-40B4-BE49-F238E27FC236}">
                <a16:creationId xmlns:a16="http://schemas.microsoft.com/office/drawing/2014/main" id="{F3E3E62C-86DA-FE5E-57BB-00222B8F4E74}"/>
              </a:ext>
            </a:extLst>
          </p:cNvPr>
          <p:cNvPicPr>
            <a:picLocks noChangeAspect="1"/>
          </p:cNvPicPr>
          <p:nvPr/>
        </p:nvPicPr>
        <p:blipFill rotWithShape="1">
          <a:blip r:embed="rId2">
            <a:clrChange>
              <a:clrFrom>
                <a:srgbClr val="FFFFFF"/>
              </a:clrFrom>
              <a:clrTo>
                <a:srgbClr val="FFFFFF">
                  <a:alpha val="0"/>
                </a:srgbClr>
              </a:clrTo>
            </a:clrChange>
          </a:blip>
          <a:srcRect l="679" t="1425"/>
          <a:stretch>
            <a:fillRect/>
          </a:stretch>
        </p:blipFill>
        <p:spPr bwMode="auto">
          <a:xfrm>
            <a:off x="0" y="1188720"/>
            <a:ext cx="9089571" cy="5669280"/>
          </a:xfrm>
          <a:prstGeom prst="rect">
            <a:avLst/>
          </a:prstGeom>
          <a:ln>
            <a:solidFill>
              <a:schemeClr val="tx2">
                <a:lumMod val="50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7832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7FF06-B290-1BBC-B848-6ACE01C45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33CA5-7CBA-3D1A-4E3D-AFE3CA82E7F5}"/>
              </a:ext>
            </a:extLst>
          </p:cNvPr>
          <p:cNvSpPr>
            <a:spLocks noGrp="1"/>
          </p:cNvSpPr>
          <p:nvPr>
            <p:ph type="title"/>
          </p:nvPr>
        </p:nvSpPr>
        <p:spPr>
          <a:xfrm>
            <a:off x="-1" y="0"/>
            <a:ext cx="12192001" cy="1188720"/>
          </a:xfrm>
        </p:spPr>
        <p:txBody>
          <a:bodyPr>
            <a:normAutofit/>
          </a:bodyPr>
          <a:lstStyle/>
          <a:p>
            <a:r>
              <a:rPr lang="en-IN" b="1" dirty="0"/>
              <a:t>16.How many regions or NOCs participate in each Olympic Games?</a:t>
            </a:r>
            <a:endParaRPr lang="en-IN" dirty="0"/>
          </a:p>
        </p:txBody>
      </p:sp>
      <p:sp>
        <p:nvSpPr>
          <p:cNvPr id="5" name="Content Placeholder 2">
            <a:extLst>
              <a:ext uri="{FF2B5EF4-FFF2-40B4-BE49-F238E27FC236}">
                <a16:creationId xmlns:a16="http://schemas.microsoft.com/office/drawing/2014/main" id="{68B69FDA-B505-1901-A6FF-0E33BA6E89F6}"/>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Total 231 nations participated till date.</a:t>
            </a:r>
          </a:p>
          <a:p>
            <a:r>
              <a:rPr lang="en-US" dirty="0"/>
              <a:t>From the Line Chart, it showcases the steadily increasing number of participating countries that signifies enhanced global cooperation, geopolitical changes, and the Olympic movement’s success in fostering inclusivity. </a:t>
            </a:r>
            <a:endParaRPr lang="en-IN" dirty="0"/>
          </a:p>
        </p:txBody>
      </p:sp>
      <p:pic>
        <p:nvPicPr>
          <p:cNvPr id="4" name="Picture 3">
            <a:extLst>
              <a:ext uri="{FF2B5EF4-FFF2-40B4-BE49-F238E27FC236}">
                <a16:creationId xmlns:a16="http://schemas.microsoft.com/office/drawing/2014/main" id="{3843DED0-3CD5-9EEE-3C7A-E24E4C51F9F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237466"/>
            <a:ext cx="9165772" cy="5620534"/>
          </a:xfrm>
          <a:prstGeom prst="rect">
            <a:avLst/>
          </a:prstGeom>
        </p:spPr>
      </p:pic>
    </p:spTree>
    <p:extLst>
      <p:ext uri="{BB962C8B-B14F-4D97-AF65-F5344CB8AC3E}">
        <p14:creationId xmlns:p14="http://schemas.microsoft.com/office/powerpoint/2010/main" val="4017607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E88F7-29C1-ED1D-9DC8-E8D2F1AC5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A3812-2C8D-EB22-C524-DD50A059F3E4}"/>
              </a:ext>
            </a:extLst>
          </p:cNvPr>
          <p:cNvSpPr>
            <a:spLocks noGrp="1"/>
          </p:cNvSpPr>
          <p:nvPr>
            <p:ph type="title"/>
          </p:nvPr>
        </p:nvSpPr>
        <p:spPr>
          <a:xfrm>
            <a:off x="-1" y="0"/>
            <a:ext cx="12192001" cy="1188720"/>
          </a:xfrm>
        </p:spPr>
        <p:txBody>
          <a:bodyPr>
            <a:normAutofit/>
          </a:bodyPr>
          <a:lstStyle/>
          <a:p>
            <a:r>
              <a:rPr lang="en-IN" b="1" dirty="0"/>
              <a:t>17. Which regions have the highest number of participants in the Olympics?</a:t>
            </a:r>
            <a:endParaRPr lang="en-IN" dirty="0"/>
          </a:p>
        </p:txBody>
      </p:sp>
      <p:sp>
        <p:nvSpPr>
          <p:cNvPr id="5" name="Content Placeholder 2">
            <a:extLst>
              <a:ext uri="{FF2B5EF4-FFF2-40B4-BE49-F238E27FC236}">
                <a16:creationId xmlns:a16="http://schemas.microsoft.com/office/drawing/2014/main" id="{D93EFA99-1378-9EFF-C74F-4FB50F425356}"/>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As per the above Stacked Area Chart, USA has the highest number of participants- 9225.</a:t>
            </a:r>
            <a:endParaRPr lang="en-IN" dirty="0"/>
          </a:p>
        </p:txBody>
      </p:sp>
      <p:pic>
        <p:nvPicPr>
          <p:cNvPr id="4" name="Picture 3">
            <a:extLst>
              <a:ext uri="{FF2B5EF4-FFF2-40B4-BE49-F238E27FC236}">
                <a16:creationId xmlns:a16="http://schemas.microsoft.com/office/drawing/2014/main" id="{19AF64CA-D591-6084-EE5D-F845D43926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 y="1188720"/>
            <a:ext cx="9165772" cy="5669280"/>
          </a:xfrm>
          <a:prstGeom prst="rect">
            <a:avLst/>
          </a:prstGeom>
        </p:spPr>
      </p:pic>
    </p:spTree>
    <p:extLst>
      <p:ext uri="{BB962C8B-B14F-4D97-AF65-F5344CB8AC3E}">
        <p14:creationId xmlns:p14="http://schemas.microsoft.com/office/powerpoint/2010/main" val="4223269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DA657-E8B6-FF72-5E9B-ABCCED705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70D68-8C1B-9269-96B9-9D912C55B9B5}"/>
              </a:ext>
            </a:extLst>
          </p:cNvPr>
          <p:cNvSpPr>
            <a:spLocks noGrp="1"/>
          </p:cNvSpPr>
          <p:nvPr>
            <p:ph type="title"/>
          </p:nvPr>
        </p:nvSpPr>
        <p:spPr>
          <a:xfrm>
            <a:off x="-1" y="0"/>
            <a:ext cx="12192001" cy="1188720"/>
          </a:xfrm>
        </p:spPr>
        <p:txBody>
          <a:bodyPr>
            <a:normAutofit/>
          </a:bodyPr>
          <a:lstStyle/>
          <a:p>
            <a:r>
              <a:rPr lang="en-IN" b="1" dirty="0"/>
              <a:t>18. What is the distribution of medals among different regions?</a:t>
            </a:r>
            <a:endParaRPr lang="en-IN" dirty="0"/>
          </a:p>
        </p:txBody>
      </p:sp>
      <p:sp>
        <p:nvSpPr>
          <p:cNvPr id="5" name="Content Placeholder 2">
            <a:extLst>
              <a:ext uri="{FF2B5EF4-FFF2-40B4-BE49-F238E27FC236}">
                <a16:creationId xmlns:a16="http://schemas.microsoft.com/office/drawing/2014/main" id="{52183583-89EE-1B9F-018C-CA4390092A1C}"/>
              </a:ext>
            </a:extLst>
          </p:cNvPr>
          <p:cNvSpPr txBox="1">
            <a:spLocks/>
          </p:cNvSpPr>
          <p:nvPr/>
        </p:nvSpPr>
        <p:spPr>
          <a:xfrm>
            <a:off x="9165771" y="1319349"/>
            <a:ext cx="3026230"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As we can see from the Stacked Column Chart that The United States has earned the highest number of Olympic medals, surpassing 5,000 total medals, with a balanced distribution across Gold, Silver, and Bronze. Gold being the highest!</a:t>
            </a:r>
            <a:endParaRPr lang="en-IN" dirty="0"/>
          </a:p>
        </p:txBody>
      </p:sp>
      <p:pic>
        <p:nvPicPr>
          <p:cNvPr id="3" name="Picture 2">
            <a:extLst>
              <a:ext uri="{FF2B5EF4-FFF2-40B4-BE49-F238E27FC236}">
                <a16:creationId xmlns:a16="http://schemas.microsoft.com/office/drawing/2014/main" id="{8088A4F1-40FB-94A6-B2AF-DBBE2E1668B4}"/>
              </a:ext>
            </a:extLst>
          </p:cNvPr>
          <p:cNvPicPr>
            <a:picLocks noChangeAspect="1"/>
          </p:cNvPicPr>
          <p:nvPr/>
        </p:nvPicPr>
        <p:blipFill rotWithShape="1">
          <a:blip r:embed="rId2">
            <a:clrChange>
              <a:clrFrom>
                <a:srgbClr val="FFFFFF"/>
              </a:clrFrom>
              <a:clrTo>
                <a:srgbClr val="FFFFFF">
                  <a:alpha val="0"/>
                </a:srgbClr>
              </a:clrTo>
            </a:clrChange>
          </a:blip>
          <a:srcRect l="792" t="1818"/>
          <a:stretch>
            <a:fillRect/>
          </a:stretch>
        </p:blipFill>
        <p:spPr bwMode="auto">
          <a:xfrm>
            <a:off x="-1" y="1188721"/>
            <a:ext cx="9165772" cy="5669280"/>
          </a:xfrm>
          <a:prstGeom prst="rect">
            <a:avLst/>
          </a:prstGeom>
          <a:ln>
            <a:solidFill>
              <a:schemeClr val="tx2">
                <a:lumMod val="50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9824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B86F524-50FB-E6E3-B320-A1495F564F4B}"/>
            </a:ext>
          </a:extLst>
        </p:cNvPr>
        <p:cNvGrpSpPr/>
        <p:nvPr/>
      </p:nvGrpSpPr>
      <p:grpSpPr>
        <a:xfrm>
          <a:off x="0" y="0"/>
          <a:ext cx="0" cy="0"/>
          <a:chOff x="0" y="0"/>
          <a:chExt cx="0" cy="0"/>
        </a:xfrm>
      </p:grpSpPr>
      <p:pic>
        <p:nvPicPr>
          <p:cNvPr id="1026" name="Picture 2" descr="exploratory data analysis">
            <a:extLst>
              <a:ext uri="{FF2B5EF4-FFF2-40B4-BE49-F238E27FC236}">
                <a16:creationId xmlns:a16="http://schemas.microsoft.com/office/drawing/2014/main" id="{FEB0845F-3D10-E923-9700-F226765D76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127"/>
          <a:stretch>
            <a:fillRect/>
          </a:stretch>
        </p:blipFill>
        <p:spPr bwMode="auto">
          <a:xfrm>
            <a:off x="-1" y="0"/>
            <a:ext cx="12192001" cy="6858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EDE1E5FD-D4BC-9C92-38C7-A70249B6F273}"/>
              </a:ext>
            </a:extLst>
          </p:cNvPr>
          <p:cNvSpPr>
            <a:spLocks noGrp="1"/>
          </p:cNvSpPr>
          <p:nvPr>
            <p:ph type="title"/>
          </p:nvPr>
        </p:nvSpPr>
        <p:spPr>
          <a:xfrm>
            <a:off x="5453307" y="3348663"/>
            <a:ext cx="6542750" cy="1188720"/>
          </a:xfrm>
          <a:solidFill>
            <a:schemeClr val="bg1"/>
          </a:solidFill>
          <a:ln>
            <a:noFill/>
          </a:ln>
        </p:spPr>
        <p:txBody>
          <a:bodyPr>
            <a:normAutofit fontScale="90000"/>
          </a:bodyPr>
          <a:lstStyle/>
          <a:p>
            <a:r>
              <a:rPr lang="en-IN" sz="4000" b="1" dirty="0">
                <a:solidFill>
                  <a:srgbClr val="00B0F0"/>
                </a:solidFill>
              </a:rPr>
              <a:t>PROBLEM STATEMENTS</a:t>
            </a:r>
          </a:p>
        </p:txBody>
      </p:sp>
      <p:sp>
        <p:nvSpPr>
          <p:cNvPr id="4" name="Rectangle 3">
            <a:extLst>
              <a:ext uri="{FF2B5EF4-FFF2-40B4-BE49-F238E27FC236}">
                <a16:creationId xmlns:a16="http://schemas.microsoft.com/office/drawing/2014/main" id="{C74E557A-B2AB-4A4E-AA28-AB6BE266AD05}"/>
              </a:ext>
            </a:extLst>
          </p:cNvPr>
          <p:cNvSpPr/>
          <p:nvPr/>
        </p:nvSpPr>
        <p:spPr>
          <a:xfrm>
            <a:off x="8773886" y="5050971"/>
            <a:ext cx="3222171" cy="95794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687385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DA with SQL (MySQL). EDA = Exploratory Data Analysis | by Ramya N ...">
            <a:extLst>
              <a:ext uri="{FF2B5EF4-FFF2-40B4-BE49-F238E27FC236}">
                <a16:creationId xmlns:a16="http://schemas.microsoft.com/office/drawing/2014/main" id="{A6956827-5A4F-CFE1-F895-DDB6437B6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5203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AE57B-CF70-1C22-CA91-3ECDDE74F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9920E-F5BA-74F8-8164-A49E0F3C6F43}"/>
              </a:ext>
            </a:extLst>
          </p:cNvPr>
          <p:cNvSpPr>
            <a:spLocks noGrp="1"/>
          </p:cNvSpPr>
          <p:nvPr>
            <p:ph type="title"/>
          </p:nvPr>
        </p:nvSpPr>
        <p:spPr>
          <a:xfrm>
            <a:off x="-1" y="0"/>
            <a:ext cx="12192001" cy="1188720"/>
          </a:xfrm>
        </p:spPr>
        <p:txBody>
          <a:bodyPr>
            <a:normAutofit/>
          </a:bodyPr>
          <a:lstStyle/>
          <a:p>
            <a:r>
              <a:rPr lang="en-IN" b="1" dirty="0"/>
              <a:t>1. Are there any trends or patterns in the frequency of hosting Olympic Games?</a:t>
            </a:r>
            <a:endParaRPr lang="en-IN" dirty="0"/>
          </a:p>
        </p:txBody>
      </p:sp>
      <p:pic>
        <p:nvPicPr>
          <p:cNvPr id="12" name="Picture 11">
            <a:extLst>
              <a:ext uri="{FF2B5EF4-FFF2-40B4-BE49-F238E27FC236}">
                <a16:creationId xmlns:a16="http://schemas.microsoft.com/office/drawing/2014/main" id="{13DBD214-DBF1-F843-3F8E-9C630F6C2A63}"/>
              </a:ext>
            </a:extLst>
          </p:cNvPr>
          <p:cNvPicPr>
            <a:picLocks noChangeAspect="1"/>
          </p:cNvPicPr>
          <p:nvPr/>
        </p:nvPicPr>
        <p:blipFill>
          <a:blip r:embed="rId2"/>
          <a:srcRect r="61919"/>
          <a:stretch>
            <a:fillRect/>
          </a:stretch>
        </p:blipFill>
        <p:spPr>
          <a:xfrm>
            <a:off x="1453241" y="1499657"/>
            <a:ext cx="4642758" cy="3683240"/>
          </a:xfrm>
          <a:prstGeom prst="rect">
            <a:avLst/>
          </a:prstGeom>
        </p:spPr>
      </p:pic>
      <p:sp>
        <p:nvSpPr>
          <p:cNvPr id="4" name="TextBox 3">
            <a:extLst>
              <a:ext uri="{FF2B5EF4-FFF2-40B4-BE49-F238E27FC236}">
                <a16:creationId xmlns:a16="http://schemas.microsoft.com/office/drawing/2014/main" id="{BA457A79-448A-6E7E-005F-9D9211E7BE76}"/>
              </a:ext>
            </a:extLst>
          </p:cNvPr>
          <p:cNvSpPr txBox="1"/>
          <p:nvPr/>
        </p:nvSpPr>
        <p:spPr>
          <a:xfrm>
            <a:off x="1" y="5493835"/>
            <a:ext cx="12191999" cy="1477328"/>
          </a:xfrm>
          <a:prstGeom prst="rect">
            <a:avLst/>
          </a:prstGeom>
          <a:noFill/>
        </p:spPr>
        <p:txBody>
          <a:bodyPr wrap="square" rtlCol="0">
            <a:spAutoFit/>
          </a:bodyPr>
          <a:lstStyle/>
          <a:p>
            <a:pPr algn="just"/>
            <a:r>
              <a:rPr lang="en-IN" dirty="0">
                <a:solidFill>
                  <a:schemeClr val="accent1">
                    <a:lumMod val="75000"/>
                  </a:schemeClr>
                </a:solidFill>
              </a:rPr>
              <a:t>Yes, The line chart plots the gap between Olympic Games years from 1900 to 2014. The Gaps in games ranged from 2 to 8 years, reflecting the early developmental phase of the Olympics and possible global instabilities. A noticeable 8-year gap between 1912 and 1920 due to World War I. 1940 and 1944 Games were skipped, leading to a 12-year gap between 1936 and 1948 due to World War II. </a:t>
            </a:r>
          </a:p>
          <a:p>
            <a:pPr algn="just"/>
            <a:endParaRPr lang="en-IN" dirty="0">
              <a:solidFill>
                <a:schemeClr val="accent1">
                  <a:lumMod val="75000"/>
                </a:schemeClr>
              </a:solidFill>
            </a:endParaRPr>
          </a:p>
        </p:txBody>
      </p:sp>
      <p:pic>
        <p:nvPicPr>
          <p:cNvPr id="5" name="Picture 4">
            <a:extLst>
              <a:ext uri="{FF2B5EF4-FFF2-40B4-BE49-F238E27FC236}">
                <a16:creationId xmlns:a16="http://schemas.microsoft.com/office/drawing/2014/main" id="{70F2D6AB-2A27-0FA3-8A73-3BFCFE15BF46}"/>
              </a:ext>
            </a:extLst>
          </p:cNvPr>
          <p:cNvPicPr>
            <a:picLocks noChangeAspect="1"/>
          </p:cNvPicPr>
          <p:nvPr/>
        </p:nvPicPr>
        <p:blipFill>
          <a:blip r:embed="rId2"/>
          <a:srcRect l="41741" r="23661"/>
          <a:stretch>
            <a:fillRect/>
          </a:stretch>
        </p:blipFill>
        <p:spPr>
          <a:xfrm>
            <a:off x="6095999" y="1499657"/>
            <a:ext cx="4218214" cy="3683240"/>
          </a:xfrm>
          <a:prstGeom prst="rect">
            <a:avLst/>
          </a:prstGeom>
        </p:spPr>
      </p:pic>
    </p:spTree>
    <p:extLst>
      <p:ext uri="{BB962C8B-B14F-4D97-AF65-F5344CB8AC3E}">
        <p14:creationId xmlns:p14="http://schemas.microsoft.com/office/powerpoint/2010/main" val="3260738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F9B9-549E-0FC0-1999-3A8450635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68E5C-130E-A265-DB7A-186F4CB777FC}"/>
              </a:ext>
            </a:extLst>
          </p:cNvPr>
          <p:cNvSpPr>
            <a:spLocks noGrp="1"/>
          </p:cNvSpPr>
          <p:nvPr>
            <p:ph type="title"/>
          </p:nvPr>
        </p:nvSpPr>
        <p:spPr>
          <a:xfrm>
            <a:off x="-1" y="0"/>
            <a:ext cx="12192001" cy="1188720"/>
          </a:xfrm>
        </p:spPr>
        <p:txBody>
          <a:bodyPr>
            <a:normAutofit/>
          </a:bodyPr>
          <a:lstStyle/>
          <a:p>
            <a:r>
              <a:rPr lang="en-IN" b="1" dirty="0"/>
              <a:t>2. How has the duration of Olympic Games changed over time?</a:t>
            </a:r>
            <a:endParaRPr lang="en-IN" dirty="0"/>
          </a:p>
        </p:txBody>
      </p:sp>
      <p:sp>
        <p:nvSpPr>
          <p:cNvPr id="7" name="Content Placeholder 2">
            <a:extLst>
              <a:ext uri="{FF2B5EF4-FFF2-40B4-BE49-F238E27FC236}">
                <a16:creationId xmlns:a16="http://schemas.microsoft.com/office/drawing/2014/main" id="{4B9FD5D1-B62A-DD97-655B-12FEE56616FC}"/>
              </a:ext>
            </a:extLst>
          </p:cNvPr>
          <p:cNvSpPr txBox="1">
            <a:spLocks/>
          </p:cNvSpPr>
          <p:nvPr/>
        </p:nvSpPr>
        <p:spPr>
          <a:xfrm>
            <a:off x="8403771" y="1491343"/>
            <a:ext cx="3755572" cy="53666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endParaRPr lang="en-IN" dirty="0"/>
          </a:p>
        </p:txBody>
      </p:sp>
      <p:pic>
        <p:nvPicPr>
          <p:cNvPr id="8" name="Picture 7">
            <a:extLst>
              <a:ext uri="{FF2B5EF4-FFF2-40B4-BE49-F238E27FC236}">
                <a16:creationId xmlns:a16="http://schemas.microsoft.com/office/drawing/2014/main" id="{3153613F-62E2-E922-0CA5-37056AF58639}"/>
              </a:ext>
            </a:extLst>
          </p:cNvPr>
          <p:cNvPicPr>
            <a:picLocks noChangeAspect="1"/>
          </p:cNvPicPr>
          <p:nvPr/>
        </p:nvPicPr>
        <p:blipFill>
          <a:blip r:embed="rId2"/>
          <a:srcRect l="306" r="70642"/>
          <a:stretch>
            <a:fillRect/>
          </a:stretch>
        </p:blipFill>
        <p:spPr>
          <a:xfrm>
            <a:off x="1326995" y="1491343"/>
            <a:ext cx="4769004" cy="4032840"/>
          </a:xfrm>
          <a:prstGeom prst="rect">
            <a:avLst/>
          </a:prstGeom>
        </p:spPr>
      </p:pic>
      <p:sp>
        <p:nvSpPr>
          <p:cNvPr id="3" name="TextBox 2">
            <a:extLst>
              <a:ext uri="{FF2B5EF4-FFF2-40B4-BE49-F238E27FC236}">
                <a16:creationId xmlns:a16="http://schemas.microsoft.com/office/drawing/2014/main" id="{0E8ABE75-F3DE-0CB5-9D67-5A9E54FB4EF5}"/>
              </a:ext>
            </a:extLst>
          </p:cNvPr>
          <p:cNvSpPr txBox="1"/>
          <p:nvPr/>
        </p:nvSpPr>
        <p:spPr>
          <a:xfrm>
            <a:off x="-2" y="5567725"/>
            <a:ext cx="12192001" cy="1200329"/>
          </a:xfrm>
          <a:prstGeom prst="rect">
            <a:avLst/>
          </a:prstGeom>
          <a:noFill/>
        </p:spPr>
        <p:txBody>
          <a:bodyPr wrap="square" rtlCol="0">
            <a:spAutoFit/>
          </a:bodyPr>
          <a:lstStyle/>
          <a:p>
            <a:pPr algn="just"/>
            <a:r>
              <a:rPr lang="en-IN" dirty="0">
                <a:solidFill>
                  <a:srgbClr val="0070C0"/>
                </a:solidFill>
              </a:rPr>
              <a:t>The bar chart displays the number of Olympic Games held per decade from the 1890s to the 2010s. The 1900s witnessed 4 Olympic Games, indicating experimentation or overlap between seasonal formats. Only 1 event each in the 1890s and 1910s, maybe because of early phase of the Olympics and World War I. The 1940s had only 1 event, disrupted by World War II. </a:t>
            </a:r>
          </a:p>
          <a:p>
            <a:pPr algn="just"/>
            <a:r>
              <a:rPr lang="en-IN" dirty="0">
                <a:solidFill>
                  <a:srgbClr val="0070C0"/>
                </a:solidFill>
              </a:rPr>
              <a:t>.</a:t>
            </a:r>
          </a:p>
        </p:txBody>
      </p:sp>
      <p:pic>
        <p:nvPicPr>
          <p:cNvPr id="4" name="Picture 3">
            <a:extLst>
              <a:ext uri="{FF2B5EF4-FFF2-40B4-BE49-F238E27FC236}">
                <a16:creationId xmlns:a16="http://schemas.microsoft.com/office/drawing/2014/main" id="{36D1EBF7-50CE-A25C-797B-BFC1D91B90A0}"/>
              </a:ext>
            </a:extLst>
          </p:cNvPr>
          <p:cNvPicPr>
            <a:picLocks noChangeAspect="1"/>
          </p:cNvPicPr>
          <p:nvPr/>
        </p:nvPicPr>
        <p:blipFill>
          <a:blip r:embed="rId2"/>
          <a:srcRect l="33066" r="45178"/>
          <a:stretch>
            <a:fillRect/>
          </a:stretch>
        </p:blipFill>
        <p:spPr>
          <a:xfrm>
            <a:off x="6095997" y="1513114"/>
            <a:ext cx="4769003" cy="4032840"/>
          </a:xfrm>
          <a:prstGeom prst="rect">
            <a:avLst/>
          </a:prstGeom>
        </p:spPr>
      </p:pic>
    </p:spTree>
    <p:extLst>
      <p:ext uri="{BB962C8B-B14F-4D97-AF65-F5344CB8AC3E}">
        <p14:creationId xmlns:p14="http://schemas.microsoft.com/office/powerpoint/2010/main" val="1705176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35FF-8250-0FBD-BFFE-4F3D55591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108DD-F1EC-3075-7636-957D60791D03}"/>
              </a:ext>
            </a:extLst>
          </p:cNvPr>
          <p:cNvSpPr>
            <a:spLocks noGrp="1"/>
          </p:cNvSpPr>
          <p:nvPr>
            <p:ph type="title"/>
          </p:nvPr>
        </p:nvSpPr>
        <p:spPr>
          <a:xfrm>
            <a:off x="-1" y="0"/>
            <a:ext cx="12192001" cy="1188720"/>
          </a:xfrm>
        </p:spPr>
        <p:txBody>
          <a:bodyPr>
            <a:normAutofit/>
          </a:bodyPr>
          <a:lstStyle/>
          <a:p>
            <a:r>
              <a:rPr lang="en-IN" b="1" dirty="0"/>
              <a:t>3. Are there any notable events or occurrences associated with specific Olympic Games?</a:t>
            </a:r>
            <a:endParaRPr lang="en-IN" dirty="0"/>
          </a:p>
        </p:txBody>
      </p:sp>
      <p:pic>
        <p:nvPicPr>
          <p:cNvPr id="4" name="Picture 3">
            <a:extLst>
              <a:ext uri="{FF2B5EF4-FFF2-40B4-BE49-F238E27FC236}">
                <a16:creationId xmlns:a16="http://schemas.microsoft.com/office/drawing/2014/main" id="{2CAFB4B1-5E0C-F82E-D2AC-F3961850E462}"/>
              </a:ext>
            </a:extLst>
          </p:cNvPr>
          <p:cNvPicPr>
            <a:picLocks noChangeAspect="1"/>
          </p:cNvPicPr>
          <p:nvPr/>
        </p:nvPicPr>
        <p:blipFill>
          <a:blip r:embed="rId2"/>
          <a:srcRect r="56429" b="5473"/>
          <a:stretch>
            <a:fillRect/>
          </a:stretch>
        </p:blipFill>
        <p:spPr>
          <a:xfrm>
            <a:off x="783770" y="1872343"/>
            <a:ext cx="5312229" cy="3429000"/>
          </a:xfrm>
          <a:prstGeom prst="rect">
            <a:avLst/>
          </a:prstGeom>
        </p:spPr>
      </p:pic>
      <p:pic>
        <p:nvPicPr>
          <p:cNvPr id="3" name="Picture 2">
            <a:extLst>
              <a:ext uri="{FF2B5EF4-FFF2-40B4-BE49-F238E27FC236}">
                <a16:creationId xmlns:a16="http://schemas.microsoft.com/office/drawing/2014/main" id="{8283B092-5E8B-D3BC-E546-DFB958EB9677}"/>
              </a:ext>
            </a:extLst>
          </p:cNvPr>
          <p:cNvPicPr>
            <a:picLocks noChangeAspect="1"/>
          </p:cNvPicPr>
          <p:nvPr/>
        </p:nvPicPr>
        <p:blipFill>
          <a:blip r:embed="rId2"/>
          <a:srcRect l="47500" r="25536" b="5473"/>
          <a:stretch>
            <a:fillRect/>
          </a:stretch>
        </p:blipFill>
        <p:spPr>
          <a:xfrm>
            <a:off x="6095999" y="1872343"/>
            <a:ext cx="5312229" cy="3429000"/>
          </a:xfrm>
          <a:prstGeom prst="rect">
            <a:avLst/>
          </a:prstGeom>
        </p:spPr>
      </p:pic>
      <p:sp>
        <p:nvSpPr>
          <p:cNvPr id="5" name="TextBox 4">
            <a:extLst>
              <a:ext uri="{FF2B5EF4-FFF2-40B4-BE49-F238E27FC236}">
                <a16:creationId xmlns:a16="http://schemas.microsoft.com/office/drawing/2014/main" id="{3511E454-199F-217A-EC59-D0D53101D0E7}"/>
              </a:ext>
            </a:extLst>
          </p:cNvPr>
          <p:cNvSpPr txBox="1"/>
          <p:nvPr/>
        </p:nvSpPr>
        <p:spPr>
          <a:xfrm>
            <a:off x="1" y="5646785"/>
            <a:ext cx="12192000" cy="1200329"/>
          </a:xfrm>
          <a:prstGeom prst="rect">
            <a:avLst/>
          </a:prstGeom>
          <a:noFill/>
        </p:spPr>
        <p:txBody>
          <a:bodyPr wrap="square" rtlCol="0">
            <a:spAutoFit/>
          </a:bodyPr>
          <a:lstStyle/>
          <a:p>
            <a:pPr algn="just"/>
            <a:r>
              <a:rPr lang="en-IN" dirty="0">
                <a:solidFill>
                  <a:schemeClr val="accent1">
                    <a:lumMod val="75000"/>
                  </a:schemeClr>
                </a:solidFill>
              </a:rPr>
              <a:t>a) The 8-year interval that preceded the 1920 Games, which signifies the cancellation of the 1916 Olympics due to World War I. </a:t>
            </a:r>
          </a:p>
          <a:p>
            <a:pPr algn="just"/>
            <a:r>
              <a:rPr lang="en-IN" dirty="0">
                <a:solidFill>
                  <a:schemeClr val="accent1">
                    <a:lumMod val="75000"/>
                  </a:schemeClr>
                </a:solidFill>
              </a:rPr>
              <a:t>b) The even more significant 12-year interval leading up to the 1948 Games, which indicates the cancellation of both the 1940 and 1944 Olympics as a result of World War II.</a:t>
            </a:r>
          </a:p>
          <a:p>
            <a:pPr algn="just"/>
            <a:endParaRPr lang="en-IN" dirty="0">
              <a:solidFill>
                <a:schemeClr val="accent1">
                  <a:lumMod val="75000"/>
                </a:schemeClr>
              </a:solidFill>
            </a:endParaRPr>
          </a:p>
        </p:txBody>
      </p:sp>
    </p:spTree>
    <p:extLst>
      <p:ext uri="{BB962C8B-B14F-4D97-AF65-F5344CB8AC3E}">
        <p14:creationId xmlns:p14="http://schemas.microsoft.com/office/powerpoint/2010/main" val="1100007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0B758-BD00-A3A5-E8A9-EAAB35340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B127D-D275-387C-2EC2-D35AB8CDD58B}"/>
              </a:ext>
            </a:extLst>
          </p:cNvPr>
          <p:cNvSpPr>
            <a:spLocks noGrp="1"/>
          </p:cNvSpPr>
          <p:nvPr>
            <p:ph type="title"/>
          </p:nvPr>
        </p:nvSpPr>
        <p:spPr>
          <a:xfrm>
            <a:off x="-1" y="0"/>
            <a:ext cx="12192001" cy="1188720"/>
          </a:xfrm>
        </p:spPr>
        <p:txBody>
          <a:bodyPr>
            <a:normAutofit/>
          </a:bodyPr>
          <a:lstStyle/>
          <a:p>
            <a:r>
              <a:rPr lang="en-IN" b="1" dirty="0"/>
              <a:t>4. Are there any emerging sports that have been recently added to the Olympics?</a:t>
            </a:r>
            <a:endParaRPr lang="en-IN" dirty="0"/>
          </a:p>
        </p:txBody>
      </p:sp>
      <p:pic>
        <p:nvPicPr>
          <p:cNvPr id="7" name="Picture 6">
            <a:extLst>
              <a:ext uri="{FF2B5EF4-FFF2-40B4-BE49-F238E27FC236}">
                <a16:creationId xmlns:a16="http://schemas.microsoft.com/office/drawing/2014/main" id="{2D2F3935-48C2-1399-3882-D2812C37C873}"/>
              </a:ext>
            </a:extLst>
          </p:cNvPr>
          <p:cNvPicPr>
            <a:picLocks noChangeAspect="1"/>
          </p:cNvPicPr>
          <p:nvPr/>
        </p:nvPicPr>
        <p:blipFill>
          <a:blip r:embed="rId2"/>
          <a:srcRect r="42143"/>
          <a:stretch>
            <a:fillRect/>
          </a:stretch>
        </p:blipFill>
        <p:spPr>
          <a:xfrm>
            <a:off x="0" y="1188720"/>
            <a:ext cx="7053943" cy="3545128"/>
          </a:xfrm>
          <a:prstGeom prst="rect">
            <a:avLst/>
          </a:prstGeom>
        </p:spPr>
      </p:pic>
      <p:pic>
        <p:nvPicPr>
          <p:cNvPr id="8" name="Picture 7">
            <a:extLst>
              <a:ext uri="{FF2B5EF4-FFF2-40B4-BE49-F238E27FC236}">
                <a16:creationId xmlns:a16="http://schemas.microsoft.com/office/drawing/2014/main" id="{67EADF28-71B7-BE0A-CAF2-FE509A729F22}"/>
              </a:ext>
            </a:extLst>
          </p:cNvPr>
          <p:cNvPicPr>
            <a:picLocks noChangeAspect="1"/>
          </p:cNvPicPr>
          <p:nvPr/>
        </p:nvPicPr>
        <p:blipFill>
          <a:blip r:embed="rId2"/>
          <a:srcRect l="65000" b="19304"/>
          <a:stretch>
            <a:fillRect/>
          </a:stretch>
        </p:blipFill>
        <p:spPr>
          <a:xfrm>
            <a:off x="7053943" y="1188720"/>
            <a:ext cx="5138057" cy="3545128"/>
          </a:xfrm>
          <a:prstGeom prst="rect">
            <a:avLst/>
          </a:prstGeom>
        </p:spPr>
      </p:pic>
      <p:sp>
        <p:nvSpPr>
          <p:cNvPr id="9" name="TextBox 8">
            <a:extLst>
              <a:ext uri="{FF2B5EF4-FFF2-40B4-BE49-F238E27FC236}">
                <a16:creationId xmlns:a16="http://schemas.microsoft.com/office/drawing/2014/main" id="{0092129C-B702-056F-39FB-E0B18BF5908D}"/>
              </a:ext>
            </a:extLst>
          </p:cNvPr>
          <p:cNvSpPr txBox="1"/>
          <p:nvPr/>
        </p:nvSpPr>
        <p:spPr>
          <a:xfrm>
            <a:off x="0" y="5346114"/>
            <a:ext cx="12192001" cy="646331"/>
          </a:xfrm>
          <a:prstGeom prst="rect">
            <a:avLst/>
          </a:prstGeom>
          <a:noFill/>
        </p:spPr>
        <p:txBody>
          <a:bodyPr wrap="square" rtlCol="0">
            <a:spAutoFit/>
          </a:bodyPr>
          <a:lstStyle/>
          <a:p>
            <a:pPr algn="just"/>
            <a:r>
              <a:rPr lang="en-IN" dirty="0"/>
              <a:t>Only 10 sports were introduced 1992 and 2016. .The Olympic Games have strategically expanded their sports portfolio to include emerging, fast-paced, and youth-oriented events. </a:t>
            </a:r>
          </a:p>
        </p:txBody>
      </p:sp>
    </p:spTree>
    <p:extLst>
      <p:ext uri="{BB962C8B-B14F-4D97-AF65-F5344CB8AC3E}">
        <p14:creationId xmlns:p14="http://schemas.microsoft.com/office/powerpoint/2010/main" val="3148379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F7F88-835E-C870-A00E-5D5C10198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11604-14FD-CBC0-C20E-58745E3BD895}"/>
              </a:ext>
            </a:extLst>
          </p:cNvPr>
          <p:cNvSpPr>
            <a:spLocks noGrp="1"/>
          </p:cNvSpPr>
          <p:nvPr>
            <p:ph type="title"/>
          </p:nvPr>
        </p:nvSpPr>
        <p:spPr>
          <a:xfrm>
            <a:off x="-1" y="0"/>
            <a:ext cx="12192001" cy="1188720"/>
          </a:xfrm>
        </p:spPr>
        <p:txBody>
          <a:bodyPr>
            <a:normAutofit/>
          </a:bodyPr>
          <a:lstStyle/>
          <a:p>
            <a:r>
              <a:rPr lang="en-IN" b="1" dirty="0"/>
              <a:t>5. How has the popularity of certain sports changed over the years?</a:t>
            </a:r>
            <a:endParaRPr lang="en-IN" dirty="0"/>
          </a:p>
        </p:txBody>
      </p:sp>
      <p:pic>
        <p:nvPicPr>
          <p:cNvPr id="4" name="Picture 3">
            <a:extLst>
              <a:ext uri="{FF2B5EF4-FFF2-40B4-BE49-F238E27FC236}">
                <a16:creationId xmlns:a16="http://schemas.microsoft.com/office/drawing/2014/main" id="{434E0D4E-1D96-A67A-2C6C-18673093FBA6}"/>
              </a:ext>
            </a:extLst>
          </p:cNvPr>
          <p:cNvPicPr>
            <a:picLocks noChangeAspect="1"/>
          </p:cNvPicPr>
          <p:nvPr/>
        </p:nvPicPr>
        <p:blipFill>
          <a:blip r:embed="rId3"/>
          <a:srcRect r="61518"/>
          <a:stretch>
            <a:fillRect/>
          </a:stretch>
        </p:blipFill>
        <p:spPr>
          <a:xfrm>
            <a:off x="3343296" y="1188720"/>
            <a:ext cx="4691744" cy="5669280"/>
          </a:xfrm>
          <a:prstGeom prst="rect">
            <a:avLst/>
          </a:prstGeom>
        </p:spPr>
      </p:pic>
      <p:pic>
        <p:nvPicPr>
          <p:cNvPr id="3" name="Picture 2">
            <a:extLst>
              <a:ext uri="{FF2B5EF4-FFF2-40B4-BE49-F238E27FC236}">
                <a16:creationId xmlns:a16="http://schemas.microsoft.com/office/drawing/2014/main" id="{C3B14AD2-965F-1E45-EC51-7FD1D1FC611B}"/>
              </a:ext>
            </a:extLst>
          </p:cNvPr>
          <p:cNvPicPr>
            <a:picLocks noChangeAspect="1"/>
          </p:cNvPicPr>
          <p:nvPr/>
        </p:nvPicPr>
        <p:blipFill>
          <a:blip r:embed="rId3"/>
          <a:srcRect l="43125" t="3673" r="30179"/>
          <a:stretch>
            <a:fillRect/>
          </a:stretch>
        </p:blipFill>
        <p:spPr>
          <a:xfrm>
            <a:off x="-1" y="1218110"/>
            <a:ext cx="3343297" cy="5639889"/>
          </a:xfrm>
          <a:prstGeom prst="rect">
            <a:avLst/>
          </a:prstGeom>
        </p:spPr>
      </p:pic>
      <p:sp>
        <p:nvSpPr>
          <p:cNvPr id="5" name="TextBox 4">
            <a:extLst>
              <a:ext uri="{FF2B5EF4-FFF2-40B4-BE49-F238E27FC236}">
                <a16:creationId xmlns:a16="http://schemas.microsoft.com/office/drawing/2014/main" id="{47AD5F9D-4D8E-5EAE-8118-54D494D1367F}"/>
              </a:ext>
            </a:extLst>
          </p:cNvPr>
          <p:cNvSpPr txBox="1"/>
          <p:nvPr/>
        </p:nvSpPr>
        <p:spPr>
          <a:xfrm>
            <a:off x="8196943" y="2849604"/>
            <a:ext cx="3995057" cy="2308324"/>
          </a:xfrm>
          <a:prstGeom prst="rect">
            <a:avLst/>
          </a:prstGeom>
          <a:noFill/>
        </p:spPr>
        <p:txBody>
          <a:bodyPr wrap="square" rtlCol="0">
            <a:spAutoFit/>
          </a:bodyPr>
          <a:lstStyle/>
          <a:p>
            <a:pPr algn="just"/>
            <a:r>
              <a:rPr lang="en-IN" dirty="0">
                <a:solidFill>
                  <a:schemeClr val="bg2">
                    <a:lumMod val="25000"/>
                  </a:schemeClr>
                </a:solidFill>
              </a:rPr>
              <a:t>This stacked bar chart visualizes the number of participants across selected sports from 1896 to 2016. From less than 500 participants in 1986 to crossing 10,000 in recent years - indicates increased global representation and expanding sport rosters.</a:t>
            </a:r>
          </a:p>
          <a:p>
            <a:pPr algn="just"/>
            <a:endParaRPr lang="en-IN" dirty="0">
              <a:solidFill>
                <a:schemeClr val="bg2">
                  <a:lumMod val="25000"/>
                </a:schemeClr>
              </a:solidFill>
            </a:endParaRPr>
          </a:p>
        </p:txBody>
      </p:sp>
    </p:spTree>
    <p:extLst>
      <p:ext uri="{BB962C8B-B14F-4D97-AF65-F5344CB8AC3E}">
        <p14:creationId xmlns:p14="http://schemas.microsoft.com/office/powerpoint/2010/main" val="2711089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D1C51-C7C6-BE66-8E08-16D480978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B5B6E-A231-1B9C-E5CF-79867D53079B}"/>
              </a:ext>
            </a:extLst>
          </p:cNvPr>
          <p:cNvSpPr>
            <a:spLocks noGrp="1"/>
          </p:cNvSpPr>
          <p:nvPr>
            <p:ph type="title"/>
          </p:nvPr>
        </p:nvSpPr>
        <p:spPr>
          <a:xfrm>
            <a:off x="-1" y="0"/>
            <a:ext cx="12192001" cy="1188720"/>
          </a:xfrm>
        </p:spPr>
        <p:txBody>
          <a:bodyPr>
            <a:normAutofit/>
          </a:bodyPr>
          <a:lstStyle/>
          <a:p>
            <a:r>
              <a:rPr lang="en-IN" b="1" dirty="0"/>
              <a:t>6. Are there any sports that are specific to a particular region or culture?</a:t>
            </a:r>
            <a:endParaRPr lang="en-IN" dirty="0"/>
          </a:p>
        </p:txBody>
      </p:sp>
      <p:pic>
        <p:nvPicPr>
          <p:cNvPr id="4" name="Picture 3">
            <a:extLst>
              <a:ext uri="{FF2B5EF4-FFF2-40B4-BE49-F238E27FC236}">
                <a16:creationId xmlns:a16="http://schemas.microsoft.com/office/drawing/2014/main" id="{7F833C7A-2FC8-F437-B265-5ABBA0A12D2B}"/>
              </a:ext>
            </a:extLst>
          </p:cNvPr>
          <p:cNvPicPr>
            <a:picLocks noChangeAspect="1"/>
          </p:cNvPicPr>
          <p:nvPr/>
        </p:nvPicPr>
        <p:blipFill>
          <a:blip r:embed="rId2"/>
          <a:srcRect r="36607" b="20353"/>
          <a:stretch>
            <a:fillRect/>
          </a:stretch>
        </p:blipFill>
        <p:spPr>
          <a:xfrm>
            <a:off x="-1" y="1188720"/>
            <a:ext cx="7728858" cy="3984702"/>
          </a:xfrm>
          <a:prstGeom prst="rect">
            <a:avLst/>
          </a:prstGeom>
        </p:spPr>
      </p:pic>
      <p:sp>
        <p:nvSpPr>
          <p:cNvPr id="3" name="TextBox 2">
            <a:extLst>
              <a:ext uri="{FF2B5EF4-FFF2-40B4-BE49-F238E27FC236}">
                <a16:creationId xmlns:a16="http://schemas.microsoft.com/office/drawing/2014/main" id="{F2B6C832-072E-8A1D-501E-5D332BA5FBB0}"/>
              </a:ext>
            </a:extLst>
          </p:cNvPr>
          <p:cNvSpPr txBox="1"/>
          <p:nvPr/>
        </p:nvSpPr>
        <p:spPr>
          <a:xfrm>
            <a:off x="8213271" y="2430754"/>
            <a:ext cx="3494314" cy="2031325"/>
          </a:xfrm>
          <a:prstGeom prst="rect">
            <a:avLst/>
          </a:prstGeom>
          <a:noFill/>
        </p:spPr>
        <p:txBody>
          <a:bodyPr wrap="square" rtlCol="0">
            <a:spAutoFit/>
          </a:bodyPr>
          <a:lstStyle/>
          <a:p>
            <a:pPr algn="just"/>
            <a:r>
              <a:rPr lang="en-IN" dirty="0">
                <a:solidFill>
                  <a:schemeClr val="bg2">
                    <a:lumMod val="25000"/>
                  </a:schemeClr>
                </a:solidFill>
              </a:rPr>
              <a:t>Yes — sports such as Cricket, Jeu De </a:t>
            </a:r>
            <a:r>
              <a:rPr lang="en-IN" dirty="0" err="1">
                <a:solidFill>
                  <a:schemeClr val="bg2">
                    <a:lumMod val="25000"/>
                  </a:schemeClr>
                </a:solidFill>
              </a:rPr>
              <a:t>Paume</a:t>
            </a:r>
            <a:r>
              <a:rPr lang="en-IN" dirty="0">
                <a:solidFill>
                  <a:schemeClr val="bg2">
                    <a:lumMod val="25000"/>
                  </a:schemeClr>
                </a:solidFill>
              </a:rPr>
              <a:t>, Racquets, and Motorboating have only been played by athletes from the UK, suggesting strong regional or cultural ties.</a:t>
            </a:r>
          </a:p>
          <a:p>
            <a:endParaRPr lang="en-IN" dirty="0">
              <a:solidFill>
                <a:schemeClr val="accent5"/>
              </a:solidFill>
            </a:endParaRPr>
          </a:p>
        </p:txBody>
      </p:sp>
      <p:pic>
        <p:nvPicPr>
          <p:cNvPr id="5" name="Picture 4">
            <a:extLst>
              <a:ext uri="{FF2B5EF4-FFF2-40B4-BE49-F238E27FC236}">
                <a16:creationId xmlns:a16="http://schemas.microsoft.com/office/drawing/2014/main" id="{36AB74AE-0D95-9D18-1D84-62A113AD1BF2}"/>
              </a:ext>
            </a:extLst>
          </p:cNvPr>
          <p:cNvPicPr>
            <a:picLocks noChangeAspect="1"/>
          </p:cNvPicPr>
          <p:nvPr/>
        </p:nvPicPr>
        <p:blipFill>
          <a:blip r:embed="rId2"/>
          <a:srcRect l="72321" b="70286"/>
          <a:stretch>
            <a:fillRect/>
          </a:stretch>
        </p:blipFill>
        <p:spPr>
          <a:xfrm>
            <a:off x="0" y="5173422"/>
            <a:ext cx="3744686" cy="1684578"/>
          </a:xfrm>
          <a:prstGeom prst="rect">
            <a:avLst/>
          </a:prstGeom>
        </p:spPr>
      </p:pic>
    </p:spTree>
    <p:extLst>
      <p:ext uri="{BB962C8B-B14F-4D97-AF65-F5344CB8AC3E}">
        <p14:creationId xmlns:p14="http://schemas.microsoft.com/office/powerpoint/2010/main" val="1314881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B932A-0E0E-B3D3-93D7-60D2A7FC2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B13B0-E4EF-AE88-E042-0A0E08E030C7}"/>
              </a:ext>
            </a:extLst>
          </p:cNvPr>
          <p:cNvSpPr>
            <a:spLocks noGrp="1"/>
          </p:cNvSpPr>
          <p:nvPr>
            <p:ph type="title"/>
          </p:nvPr>
        </p:nvSpPr>
        <p:spPr>
          <a:xfrm>
            <a:off x="-1" y="0"/>
            <a:ext cx="12192001" cy="1188720"/>
          </a:xfrm>
        </p:spPr>
        <p:txBody>
          <a:bodyPr>
            <a:normAutofit fontScale="90000"/>
          </a:bodyPr>
          <a:lstStyle/>
          <a:p>
            <a:r>
              <a:rPr lang="en-IN" b="1" dirty="0"/>
              <a:t>7. Are there any sports that have a higher number of events for one gender compared to others?</a:t>
            </a:r>
            <a:endParaRPr lang="en-IN" dirty="0"/>
          </a:p>
        </p:txBody>
      </p:sp>
      <p:pic>
        <p:nvPicPr>
          <p:cNvPr id="4" name="Picture 3">
            <a:extLst>
              <a:ext uri="{FF2B5EF4-FFF2-40B4-BE49-F238E27FC236}">
                <a16:creationId xmlns:a16="http://schemas.microsoft.com/office/drawing/2014/main" id="{D946A43B-799A-035D-54C2-A4C297072B4A}"/>
              </a:ext>
            </a:extLst>
          </p:cNvPr>
          <p:cNvPicPr>
            <a:picLocks noChangeAspect="1"/>
          </p:cNvPicPr>
          <p:nvPr/>
        </p:nvPicPr>
        <p:blipFill>
          <a:blip r:embed="rId2"/>
          <a:srcRect r="59286"/>
          <a:stretch>
            <a:fillRect/>
          </a:stretch>
        </p:blipFill>
        <p:spPr>
          <a:xfrm>
            <a:off x="3320142" y="1188720"/>
            <a:ext cx="4963886" cy="5669280"/>
          </a:xfrm>
          <a:prstGeom prst="rect">
            <a:avLst/>
          </a:prstGeom>
        </p:spPr>
      </p:pic>
      <p:pic>
        <p:nvPicPr>
          <p:cNvPr id="3" name="Picture 2">
            <a:extLst>
              <a:ext uri="{FF2B5EF4-FFF2-40B4-BE49-F238E27FC236}">
                <a16:creationId xmlns:a16="http://schemas.microsoft.com/office/drawing/2014/main" id="{75060E9F-05C9-9DE5-4AFD-48D0106005EB}"/>
              </a:ext>
            </a:extLst>
          </p:cNvPr>
          <p:cNvPicPr>
            <a:picLocks noChangeAspect="1"/>
          </p:cNvPicPr>
          <p:nvPr/>
        </p:nvPicPr>
        <p:blipFill>
          <a:blip r:embed="rId2"/>
          <a:srcRect l="44911" r="27857"/>
          <a:stretch>
            <a:fillRect/>
          </a:stretch>
        </p:blipFill>
        <p:spPr>
          <a:xfrm>
            <a:off x="-1" y="1151710"/>
            <a:ext cx="3320143" cy="5669280"/>
          </a:xfrm>
          <a:prstGeom prst="rect">
            <a:avLst/>
          </a:prstGeom>
        </p:spPr>
      </p:pic>
      <p:sp>
        <p:nvSpPr>
          <p:cNvPr id="5" name="TextBox 4">
            <a:extLst>
              <a:ext uri="{FF2B5EF4-FFF2-40B4-BE49-F238E27FC236}">
                <a16:creationId xmlns:a16="http://schemas.microsoft.com/office/drawing/2014/main" id="{400928EF-352D-9403-3648-BED231636C49}"/>
              </a:ext>
            </a:extLst>
          </p:cNvPr>
          <p:cNvSpPr txBox="1"/>
          <p:nvPr/>
        </p:nvSpPr>
        <p:spPr>
          <a:xfrm>
            <a:off x="8948057" y="2970687"/>
            <a:ext cx="3243943" cy="2031325"/>
          </a:xfrm>
          <a:prstGeom prst="rect">
            <a:avLst/>
          </a:prstGeom>
          <a:noFill/>
        </p:spPr>
        <p:txBody>
          <a:bodyPr wrap="square" rtlCol="0">
            <a:spAutoFit/>
          </a:bodyPr>
          <a:lstStyle/>
          <a:p>
            <a:r>
              <a:rPr lang="en-IN" b="1" dirty="0">
                <a:solidFill>
                  <a:srgbClr val="0070C0"/>
                </a:solidFill>
              </a:rPr>
              <a:t>Male-Dominated Sports:</a:t>
            </a:r>
          </a:p>
          <a:p>
            <a:r>
              <a:rPr lang="en-IN" dirty="0">
                <a:solidFill>
                  <a:srgbClr val="0070C0"/>
                </a:solidFill>
              </a:rPr>
              <a:t>Shooting, Athletics, Sailing </a:t>
            </a:r>
          </a:p>
          <a:p>
            <a:endParaRPr lang="en-IN" dirty="0"/>
          </a:p>
          <a:p>
            <a:r>
              <a:rPr lang="en-IN" b="1" dirty="0">
                <a:solidFill>
                  <a:srgbClr val="FF0066"/>
                </a:solidFill>
              </a:rPr>
              <a:t>Female-Dominated Sports: </a:t>
            </a:r>
            <a:r>
              <a:rPr lang="en-IN" dirty="0">
                <a:solidFill>
                  <a:srgbClr val="FF0066"/>
                </a:solidFill>
              </a:rPr>
              <a:t>Art-Competitions, Swimming, Cross-country Skiing</a:t>
            </a:r>
          </a:p>
          <a:p>
            <a:endParaRPr lang="en-IN" dirty="0"/>
          </a:p>
        </p:txBody>
      </p:sp>
    </p:spTree>
    <p:extLst>
      <p:ext uri="{BB962C8B-B14F-4D97-AF65-F5344CB8AC3E}">
        <p14:creationId xmlns:p14="http://schemas.microsoft.com/office/powerpoint/2010/main" val="3274452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A02AF-C000-22DE-FC38-8D5DE8DD0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699A4-442A-0215-5124-54A674C57C6E}"/>
              </a:ext>
            </a:extLst>
          </p:cNvPr>
          <p:cNvSpPr>
            <a:spLocks noGrp="1"/>
          </p:cNvSpPr>
          <p:nvPr>
            <p:ph type="title"/>
          </p:nvPr>
        </p:nvSpPr>
        <p:spPr>
          <a:xfrm>
            <a:off x="-1" y="0"/>
            <a:ext cx="12192001" cy="1188720"/>
          </a:xfrm>
        </p:spPr>
        <p:txBody>
          <a:bodyPr>
            <a:normAutofit/>
          </a:bodyPr>
          <a:lstStyle/>
          <a:p>
            <a:r>
              <a:rPr lang="en-IN" dirty="0"/>
              <a:t>8.</a:t>
            </a:r>
            <a:r>
              <a:rPr lang="en-IN" b="1" dirty="0"/>
              <a:t> Are there any new events that have been introduced in recent editions of the Olympics?</a:t>
            </a:r>
            <a:endParaRPr lang="en-IN" dirty="0"/>
          </a:p>
        </p:txBody>
      </p:sp>
      <p:pic>
        <p:nvPicPr>
          <p:cNvPr id="4" name="Picture 3">
            <a:extLst>
              <a:ext uri="{FF2B5EF4-FFF2-40B4-BE49-F238E27FC236}">
                <a16:creationId xmlns:a16="http://schemas.microsoft.com/office/drawing/2014/main" id="{004ADBF5-D4AC-DB1C-AACA-AED602C07D8B}"/>
              </a:ext>
            </a:extLst>
          </p:cNvPr>
          <p:cNvPicPr>
            <a:picLocks noChangeAspect="1"/>
          </p:cNvPicPr>
          <p:nvPr/>
        </p:nvPicPr>
        <p:blipFill>
          <a:blip r:embed="rId2"/>
          <a:srcRect r="63482"/>
          <a:stretch>
            <a:fillRect/>
          </a:stretch>
        </p:blipFill>
        <p:spPr>
          <a:xfrm>
            <a:off x="0" y="1188721"/>
            <a:ext cx="4452257" cy="5669280"/>
          </a:xfrm>
          <a:prstGeom prst="rect">
            <a:avLst/>
          </a:prstGeom>
        </p:spPr>
      </p:pic>
      <p:pic>
        <p:nvPicPr>
          <p:cNvPr id="3" name="Picture 2">
            <a:extLst>
              <a:ext uri="{FF2B5EF4-FFF2-40B4-BE49-F238E27FC236}">
                <a16:creationId xmlns:a16="http://schemas.microsoft.com/office/drawing/2014/main" id="{108A5F6A-56D0-3AC1-2FD2-AEA21B598374}"/>
              </a:ext>
            </a:extLst>
          </p:cNvPr>
          <p:cNvPicPr>
            <a:picLocks noChangeAspect="1"/>
          </p:cNvPicPr>
          <p:nvPr/>
        </p:nvPicPr>
        <p:blipFill>
          <a:blip r:embed="rId2"/>
          <a:srcRect l="40358" r="24196"/>
          <a:stretch>
            <a:fillRect/>
          </a:stretch>
        </p:blipFill>
        <p:spPr>
          <a:xfrm>
            <a:off x="4452257" y="1188720"/>
            <a:ext cx="4321628" cy="5669280"/>
          </a:xfrm>
          <a:prstGeom prst="rect">
            <a:avLst/>
          </a:prstGeom>
        </p:spPr>
      </p:pic>
      <p:sp>
        <p:nvSpPr>
          <p:cNvPr id="5" name="TextBox 4">
            <a:extLst>
              <a:ext uri="{FF2B5EF4-FFF2-40B4-BE49-F238E27FC236}">
                <a16:creationId xmlns:a16="http://schemas.microsoft.com/office/drawing/2014/main" id="{D8324782-0A81-5593-E2F4-0A66E957836B}"/>
              </a:ext>
            </a:extLst>
          </p:cNvPr>
          <p:cNvSpPr txBox="1"/>
          <p:nvPr/>
        </p:nvSpPr>
        <p:spPr>
          <a:xfrm>
            <a:off x="8904515" y="2730698"/>
            <a:ext cx="3287486" cy="2862322"/>
          </a:xfrm>
          <a:prstGeom prst="rect">
            <a:avLst/>
          </a:prstGeom>
          <a:noFill/>
        </p:spPr>
        <p:txBody>
          <a:bodyPr wrap="square" rtlCol="0">
            <a:spAutoFit/>
          </a:bodyPr>
          <a:lstStyle/>
          <a:p>
            <a:pPr algn="just"/>
            <a:r>
              <a:rPr lang="en-IN" dirty="0">
                <a:solidFill>
                  <a:srgbClr val="FFC000"/>
                </a:solidFill>
              </a:rPr>
              <a:t>This horizontal bar chart showcases the timeline of new Olympic events introduced since the 2000. </a:t>
            </a:r>
          </a:p>
          <a:p>
            <a:pPr algn="just"/>
            <a:r>
              <a:rPr lang="en-IN" dirty="0">
                <a:solidFill>
                  <a:srgbClr val="FFC000"/>
                </a:solidFill>
              </a:rPr>
              <a:t>The Olympics has adopted a strategic way to adapt over time—adding gender-diverse, fast-paced, and globally popular events.</a:t>
            </a:r>
          </a:p>
          <a:p>
            <a:pPr algn="just"/>
            <a:endParaRPr lang="en-IN" dirty="0">
              <a:solidFill>
                <a:srgbClr val="FFC000"/>
              </a:solidFill>
            </a:endParaRPr>
          </a:p>
        </p:txBody>
      </p:sp>
    </p:spTree>
    <p:extLst>
      <p:ext uri="{BB962C8B-B14F-4D97-AF65-F5344CB8AC3E}">
        <p14:creationId xmlns:p14="http://schemas.microsoft.com/office/powerpoint/2010/main" val="3952968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1D01-FC5A-7C1E-0D57-F17BFBB65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59AF3-3ED9-ABB5-B555-153ECB8AA450}"/>
              </a:ext>
            </a:extLst>
          </p:cNvPr>
          <p:cNvSpPr>
            <a:spLocks noGrp="1"/>
          </p:cNvSpPr>
          <p:nvPr>
            <p:ph type="title"/>
          </p:nvPr>
        </p:nvSpPr>
        <p:spPr>
          <a:xfrm>
            <a:off x="-1" y="0"/>
            <a:ext cx="12192001" cy="1188720"/>
          </a:xfrm>
        </p:spPr>
        <p:txBody>
          <a:bodyPr>
            <a:normAutofit/>
          </a:bodyPr>
          <a:lstStyle/>
          <a:p>
            <a:r>
              <a:rPr lang="en-IN" b="1" dirty="0"/>
              <a:t>9. Are there any events that have been discontinued or removed from the Olympics?</a:t>
            </a:r>
            <a:endParaRPr lang="en-IN" dirty="0"/>
          </a:p>
        </p:txBody>
      </p:sp>
      <p:pic>
        <p:nvPicPr>
          <p:cNvPr id="4" name="Picture 3">
            <a:extLst>
              <a:ext uri="{FF2B5EF4-FFF2-40B4-BE49-F238E27FC236}">
                <a16:creationId xmlns:a16="http://schemas.microsoft.com/office/drawing/2014/main" id="{1F9C6389-45AE-2854-67D7-713930276378}"/>
              </a:ext>
            </a:extLst>
          </p:cNvPr>
          <p:cNvPicPr>
            <a:picLocks noChangeAspect="1"/>
          </p:cNvPicPr>
          <p:nvPr/>
        </p:nvPicPr>
        <p:blipFill>
          <a:blip r:embed="rId2"/>
          <a:srcRect r="59821" b="47811"/>
          <a:stretch>
            <a:fillRect/>
          </a:stretch>
        </p:blipFill>
        <p:spPr>
          <a:xfrm>
            <a:off x="0" y="1188720"/>
            <a:ext cx="5116284" cy="2958737"/>
          </a:xfrm>
          <a:prstGeom prst="rect">
            <a:avLst/>
          </a:prstGeom>
        </p:spPr>
      </p:pic>
      <p:pic>
        <p:nvPicPr>
          <p:cNvPr id="3" name="Picture 2">
            <a:extLst>
              <a:ext uri="{FF2B5EF4-FFF2-40B4-BE49-F238E27FC236}">
                <a16:creationId xmlns:a16="http://schemas.microsoft.com/office/drawing/2014/main" id="{93C230C6-C9FB-9D7E-EE1A-F09AD8C77C0A}"/>
              </a:ext>
            </a:extLst>
          </p:cNvPr>
          <p:cNvPicPr>
            <a:picLocks noChangeAspect="1"/>
          </p:cNvPicPr>
          <p:nvPr/>
        </p:nvPicPr>
        <p:blipFill>
          <a:blip r:embed="rId2"/>
          <a:srcRect l="44693" r="23393"/>
          <a:stretch>
            <a:fillRect/>
          </a:stretch>
        </p:blipFill>
        <p:spPr>
          <a:xfrm>
            <a:off x="5116285" y="1188720"/>
            <a:ext cx="3890980" cy="5669280"/>
          </a:xfrm>
          <a:prstGeom prst="rect">
            <a:avLst/>
          </a:prstGeom>
        </p:spPr>
      </p:pic>
      <p:pic>
        <p:nvPicPr>
          <p:cNvPr id="5" name="Picture 4">
            <a:extLst>
              <a:ext uri="{FF2B5EF4-FFF2-40B4-BE49-F238E27FC236}">
                <a16:creationId xmlns:a16="http://schemas.microsoft.com/office/drawing/2014/main" id="{70AE741A-FABE-D410-9FE2-C3C1E1954838}"/>
              </a:ext>
            </a:extLst>
          </p:cNvPr>
          <p:cNvPicPr>
            <a:picLocks noChangeAspect="1"/>
          </p:cNvPicPr>
          <p:nvPr/>
        </p:nvPicPr>
        <p:blipFill>
          <a:blip r:embed="rId3"/>
          <a:stretch>
            <a:fillRect/>
          </a:stretch>
        </p:blipFill>
        <p:spPr>
          <a:xfrm>
            <a:off x="0" y="4147457"/>
            <a:ext cx="5116285" cy="2710543"/>
          </a:xfrm>
          <a:prstGeom prst="rect">
            <a:avLst/>
          </a:prstGeom>
          <a:ln>
            <a:solidFill>
              <a:schemeClr val="accent1"/>
            </a:solidFill>
          </a:ln>
        </p:spPr>
      </p:pic>
      <p:sp>
        <p:nvSpPr>
          <p:cNvPr id="6" name="TextBox 5">
            <a:extLst>
              <a:ext uri="{FF2B5EF4-FFF2-40B4-BE49-F238E27FC236}">
                <a16:creationId xmlns:a16="http://schemas.microsoft.com/office/drawing/2014/main" id="{F615644A-700D-C2FB-514E-6E1DD4D6776B}"/>
              </a:ext>
            </a:extLst>
          </p:cNvPr>
          <p:cNvSpPr txBox="1"/>
          <p:nvPr/>
        </p:nvSpPr>
        <p:spPr>
          <a:xfrm>
            <a:off x="9287904" y="2439297"/>
            <a:ext cx="2623457" cy="3416320"/>
          </a:xfrm>
          <a:prstGeom prst="rect">
            <a:avLst/>
          </a:prstGeom>
          <a:noFill/>
        </p:spPr>
        <p:txBody>
          <a:bodyPr wrap="square" rtlCol="0">
            <a:spAutoFit/>
          </a:bodyPr>
          <a:lstStyle/>
          <a:p>
            <a:pPr algn="just"/>
            <a:r>
              <a:rPr lang="en-IN" dirty="0">
                <a:solidFill>
                  <a:srgbClr val="7030A0"/>
                </a:solidFill>
              </a:rPr>
              <a:t>This line graph exhibits the number of Olympic events that were last held. Highest spike was in 1900 (39 events). </a:t>
            </a:r>
          </a:p>
          <a:p>
            <a:pPr algn="just"/>
            <a:r>
              <a:rPr lang="en-IN" dirty="0">
                <a:solidFill>
                  <a:srgbClr val="7030A0"/>
                </a:solidFill>
              </a:rPr>
              <a:t>Sudden surge in 2020 (98 discontinued events) marks a significant reshaping of the Olympic program. This may be due to pandemic-related disruptions</a:t>
            </a:r>
          </a:p>
        </p:txBody>
      </p:sp>
    </p:spTree>
    <p:extLst>
      <p:ext uri="{BB962C8B-B14F-4D97-AF65-F5344CB8AC3E}">
        <p14:creationId xmlns:p14="http://schemas.microsoft.com/office/powerpoint/2010/main" val="481509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8014B-F6C3-C843-05C2-4CAB5D204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3B8AC-0831-7B31-A0BE-08AAA063434F}"/>
              </a:ext>
            </a:extLst>
          </p:cNvPr>
          <p:cNvSpPr>
            <a:spLocks noGrp="1"/>
          </p:cNvSpPr>
          <p:nvPr>
            <p:ph type="title"/>
          </p:nvPr>
        </p:nvSpPr>
        <p:spPr>
          <a:xfrm>
            <a:off x="-1" y="0"/>
            <a:ext cx="12192001" cy="1188720"/>
          </a:xfrm>
        </p:spPr>
        <p:txBody>
          <a:bodyPr>
            <a:normAutofit/>
          </a:bodyPr>
          <a:lstStyle/>
          <a:p>
            <a:r>
              <a:rPr lang="en-IN" b="1" dirty="0"/>
              <a:t>10. Are there any notable trends in the height and weight of participants over time?</a:t>
            </a:r>
            <a:endParaRPr lang="en-IN" dirty="0"/>
          </a:p>
        </p:txBody>
      </p:sp>
      <p:pic>
        <p:nvPicPr>
          <p:cNvPr id="4" name="Picture 3">
            <a:extLst>
              <a:ext uri="{FF2B5EF4-FFF2-40B4-BE49-F238E27FC236}">
                <a16:creationId xmlns:a16="http://schemas.microsoft.com/office/drawing/2014/main" id="{6AFA5107-0ECD-DCBC-AF76-665EF8961008}"/>
              </a:ext>
            </a:extLst>
          </p:cNvPr>
          <p:cNvPicPr>
            <a:picLocks noChangeAspect="1"/>
          </p:cNvPicPr>
          <p:nvPr/>
        </p:nvPicPr>
        <p:blipFill>
          <a:blip r:embed="rId2"/>
          <a:srcRect l="-1" r="56981"/>
          <a:stretch>
            <a:fillRect/>
          </a:stretch>
        </p:blipFill>
        <p:spPr>
          <a:xfrm>
            <a:off x="-1" y="1188720"/>
            <a:ext cx="5250436" cy="5669280"/>
          </a:xfrm>
          <a:prstGeom prst="rect">
            <a:avLst/>
          </a:prstGeom>
        </p:spPr>
      </p:pic>
      <p:pic>
        <p:nvPicPr>
          <p:cNvPr id="3" name="Picture 2">
            <a:extLst>
              <a:ext uri="{FF2B5EF4-FFF2-40B4-BE49-F238E27FC236}">
                <a16:creationId xmlns:a16="http://schemas.microsoft.com/office/drawing/2014/main" id="{3F6EE5DA-7D23-5565-CFF8-D23EAB26D83F}"/>
              </a:ext>
            </a:extLst>
          </p:cNvPr>
          <p:cNvPicPr>
            <a:picLocks noChangeAspect="1"/>
          </p:cNvPicPr>
          <p:nvPr/>
        </p:nvPicPr>
        <p:blipFill>
          <a:blip r:embed="rId2"/>
          <a:srcRect l="47943" r="31435"/>
          <a:stretch>
            <a:fillRect/>
          </a:stretch>
        </p:blipFill>
        <p:spPr>
          <a:xfrm>
            <a:off x="5196468" y="1188719"/>
            <a:ext cx="2542478" cy="5727075"/>
          </a:xfrm>
          <a:prstGeom prst="rect">
            <a:avLst/>
          </a:prstGeom>
        </p:spPr>
      </p:pic>
      <p:sp>
        <p:nvSpPr>
          <p:cNvPr id="6" name="TextBox 5">
            <a:extLst>
              <a:ext uri="{FF2B5EF4-FFF2-40B4-BE49-F238E27FC236}">
                <a16:creationId xmlns:a16="http://schemas.microsoft.com/office/drawing/2014/main" id="{C12A596E-E06D-7117-BA22-9A267599A207}"/>
              </a:ext>
            </a:extLst>
          </p:cNvPr>
          <p:cNvSpPr txBox="1"/>
          <p:nvPr/>
        </p:nvSpPr>
        <p:spPr>
          <a:xfrm>
            <a:off x="7799215" y="2096477"/>
            <a:ext cx="4332515" cy="3693319"/>
          </a:xfrm>
          <a:prstGeom prst="rect">
            <a:avLst/>
          </a:prstGeom>
          <a:noFill/>
        </p:spPr>
        <p:txBody>
          <a:bodyPr wrap="square">
            <a:spAutoFit/>
          </a:bodyPr>
          <a:lstStyle/>
          <a:p>
            <a:pPr algn="just"/>
            <a:r>
              <a:rPr lang="en-IN" dirty="0">
                <a:solidFill>
                  <a:srgbClr val="0070C0"/>
                </a:solidFill>
              </a:rPr>
              <a:t>This line chart demonstrates the average height and weight of Olympic participants across various Games years, from 1896 to 2016. </a:t>
            </a:r>
          </a:p>
          <a:p>
            <a:pPr algn="just"/>
            <a:endParaRPr lang="en-IN" dirty="0">
              <a:solidFill>
                <a:srgbClr val="0070C0"/>
              </a:solidFill>
            </a:endParaRPr>
          </a:p>
          <a:p>
            <a:pPr algn="just"/>
            <a:r>
              <a:rPr lang="en-IN" dirty="0">
                <a:solidFill>
                  <a:srgbClr val="0070C0"/>
                </a:solidFill>
              </a:rPr>
              <a:t>Since the 1960s, these metrics have stabilized, suggesting that a balance has been reached between athlete physique and sport specialization. This reflects the maturation of the physical profiles of Olympic athletes in accordance with modern performance standards.</a:t>
            </a:r>
          </a:p>
          <a:p>
            <a:pPr algn="just"/>
            <a:endParaRPr lang="en-IN" dirty="0"/>
          </a:p>
        </p:txBody>
      </p:sp>
    </p:spTree>
    <p:extLst>
      <p:ext uri="{BB962C8B-B14F-4D97-AF65-F5344CB8AC3E}">
        <p14:creationId xmlns:p14="http://schemas.microsoft.com/office/powerpoint/2010/main" val="1046077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AB31-29F5-7158-A4A1-B7022DD50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00B1D-A504-04BB-885C-FAB13A39C8FE}"/>
              </a:ext>
            </a:extLst>
          </p:cNvPr>
          <p:cNvSpPr>
            <a:spLocks noGrp="1"/>
          </p:cNvSpPr>
          <p:nvPr>
            <p:ph type="title"/>
          </p:nvPr>
        </p:nvSpPr>
        <p:spPr>
          <a:xfrm>
            <a:off x="-1" y="0"/>
            <a:ext cx="12192001" cy="1188720"/>
          </a:xfrm>
        </p:spPr>
        <p:txBody>
          <a:bodyPr>
            <a:normAutofit/>
          </a:bodyPr>
          <a:lstStyle/>
          <a:p>
            <a:r>
              <a:rPr lang="en-IN" b="1" dirty="0"/>
              <a:t>11. Are there any dominant countries or regions in specific sports or events?</a:t>
            </a:r>
            <a:endParaRPr lang="en-IN" dirty="0"/>
          </a:p>
        </p:txBody>
      </p:sp>
      <p:pic>
        <p:nvPicPr>
          <p:cNvPr id="5" name="Picture 4">
            <a:extLst>
              <a:ext uri="{FF2B5EF4-FFF2-40B4-BE49-F238E27FC236}">
                <a16:creationId xmlns:a16="http://schemas.microsoft.com/office/drawing/2014/main" id="{C6F1396E-AF0D-FCCC-BF90-DEFD47EDC84D}"/>
              </a:ext>
            </a:extLst>
          </p:cNvPr>
          <p:cNvPicPr>
            <a:picLocks noChangeAspect="1"/>
          </p:cNvPicPr>
          <p:nvPr/>
        </p:nvPicPr>
        <p:blipFill>
          <a:blip r:embed="rId2"/>
          <a:stretch>
            <a:fillRect/>
          </a:stretch>
        </p:blipFill>
        <p:spPr>
          <a:xfrm>
            <a:off x="7086599" y="1221376"/>
            <a:ext cx="5105401" cy="4464866"/>
          </a:xfrm>
          <a:prstGeom prst="rect">
            <a:avLst/>
          </a:prstGeom>
        </p:spPr>
      </p:pic>
      <p:pic>
        <p:nvPicPr>
          <p:cNvPr id="6" name="Picture 5">
            <a:extLst>
              <a:ext uri="{FF2B5EF4-FFF2-40B4-BE49-F238E27FC236}">
                <a16:creationId xmlns:a16="http://schemas.microsoft.com/office/drawing/2014/main" id="{899F23AF-B2D8-CF7C-949B-030ACDAB6881}"/>
              </a:ext>
            </a:extLst>
          </p:cNvPr>
          <p:cNvPicPr>
            <a:picLocks noChangeAspect="1"/>
          </p:cNvPicPr>
          <p:nvPr/>
        </p:nvPicPr>
        <p:blipFill>
          <a:blip r:embed="rId3"/>
          <a:srcRect l="29133" r="52589"/>
          <a:stretch>
            <a:fillRect/>
          </a:stretch>
        </p:blipFill>
        <p:spPr>
          <a:xfrm>
            <a:off x="4669971" y="1188719"/>
            <a:ext cx="2732049" cy="4497523"/>
          </a:xfrm>
          <a:prstGeom prst="rect">
            <a:avLst/>
          </a:prstGeom>
        </p:spPr>
      </p:pic>
      <p:pic>
        <p:nvPicPr>
          <p:cNvPr id="7" name="Picture 6">
            <a:extLst>
              <a:ext uri="{FF2B5EF4-FFF2-40B4-BE49-F238E27FC236}">
                <a16:creationId xmlns:a16="http://schemas.microsoft.com/office/drawing/2014/main" id="{C20D6072-3360-321E-EA59-91004D529D07}"/>
              </a:ext>
            </a:extLst>
          </p:cNvPr>
          <p:cNvPicPr>
            <a:picLocks noChangeAspect="1"/>
          </p:cNvPicPr>
          <p:nvPr/>
        </p:nvPicPr>
        <p:blipFill>
          <a:blip r:embed="rId4"/>
          <a:stretch>
            <a:fillRect/>
          </a:stretch>
        </p:blipFill>
        <p:spPr>
          <a:xfrm>
            <a:off x="0" y="1221375"/>
            <a:ext cx="4669972" cy="4447905"/>
          </a:xfrm>
          <a:prstGeom prst="rect">
            <a:avLst/>
          </a:prstGeom>
          <a:ln>
            <a:solidFill>
              <a:schemeClr val="accent1"/>
            </a:solidFill>
          </a:ln>
        </p:spPr>
      </p:pic>
      <p:sp>
        <p:nvSpPr>
          <p:cNvPr id="3" name="TextBox 2">
            <a:extLst>
              <a:ext uri="{FF2B5EF4-FFF2-40B4-BE49-F238E27FC236}">
                <a16:creationId xmlns:a16="http://schemas.microsoft.com/office/drawing/2014/main" id="{99690E90-1D10-9C75-EF21-72095A231AF4}"/>
              </a:ext>
            </a:extLst>
          </p:cNvPr>
          <p:cNvSpPr txBox="1"/>
          <p:nvPr/>
        </p:nvSpPr>
        <p:spPr>
          <a:xfrm>
            <a:off x="0" y="5718897"/>
            <a:ext cx="12192000" cy="1200329"/>
          </a:xfrm>
          <a:prstGeom prst="rect">
            <a:avLst/>
          </a:prstGeom>
          <a:noFill/>
        </p:spPr>
        <p:txBody>
          <a:bodyPr wrap="square" rtlCol="0">
            <a:spAutoFit/>
          </a:bodyPr>
          <a:lstStyle/>
          <a:p>
            <a:pPr algn="just"/>
            <a:r>
              <a:rPr lang="en-IN" dirty="0">
                <a:solidFill>
                  <a:schemeClr val="accent6">
                    <a:lumMod val="75000"/>
                  </a:schemeClr>
                </a:solidFill>
              </a:rPr>
              <a:t>This sunburst chart shows country-wise dominance in various Olympic sports, based on the medals won. United Kingdom (UK) was highly dominant in multiple sports owing to Athletics with 2,196 achievements — the largest share. </a:t>
            </a:r>
          </a:p>
          <a:p>
            <a:pPr algn="just"/>
            <a:r>
              <a:rPr lang="en-IN" dirty="0">
                <a:solidFill>
                  <a:schemeClr val="accent6">
                    <a:lumMod val="75000"/>
                  </a:schemeClr>
                </a:solidFill>
              </a:rPr>
              <a:t>Repeated UK entries across many segments indicate consistent overall dominance. Other outer segments show a broad spread of countries with smaller slices, suggesting a high level of international competitiveness in many sports.</a:t>
            </a:r>
          </a:p>
        </p:txBody>
      </p:sp>
    </p:spTree>
    <p:extLst>
      <p:ext uri="{BB962C8B-B14F-4D97-AF65-F5344CB8AC3E}">
        <p14:creationId xmlns:p14="http://schemas.microsoft.com/office/powerpoint/2010/main" val="2554492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1B77B-4294-33BD-C36D-D65F6A43B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A7D59-8C07-5C87-F083-78DA293C8E2A}"/>
              </a:ext>
            </a:extLst>
          </p:cNvPr>
          <p:cNvSpPr>
            <a:spLocks noGrp="1"/>
          </p:cNvSpPr>
          <p:nvPr>
            <p:ph type="title"/>
          </p:nvPr>
        </p:nvSpPr>
        <p:spPr>
          <a:xfrm>
            <a:off x="-1" y="0"/>
            <a:ext cx="12192001" cy="1188720"/>
          </a:xfrm>
        </p:spPr>
        <p:txBody>
          <a:bodyPr>
            <a:normAutofit fontScale="90000"/>
          </a:bodyPr>
          <a:lstStyle/>
          <a:p>
            <a:r>
              <a:rPr lang="en-IN" b="1" dirty="0"/>
              <a:t>12.What factors contribute to the success or performance of participants from different countries?</a:t>
            </a:r>
            <a:endParaRPr lang="en-IN" dirty="0"/>
          </a:p>
        </p:txBody>
      </p:sp>
      <p:pic>
        <p:nvPicPr>
          <p:cNvPr id="4" name="Picture 3">
            <a:extLst>
              <a:ext uri="{FF2B5EF4-FFF2-40B4-BE49-F238E27FC236}">
                <a16:creationId xmlns:a16="http://schemas.microsoft.com/office/drawing/2014/main" id="{601B2E13-325C-6AA7-4904-F20130985CFD}"/>
              </a:ext>
            </a:extLst>
          </p:cNvPr>
          <p:cNvPicPr>
            <a:picLocks noChangeAspect="1"/>
          </p:cNvPicPr>
          <p:nvPr/>
        </p:nvPicPr>
        <p:blipFill>
          <a:blip r:embed="rId2"/>
          <a:srcRect r="62249"/>
          <a:stretch>
            <a:fillRect/>
          </a:stretch>
        </p:blipFill>
        <p:spPr>
          <a:xfrm>
            <a:off x="-6112" y="1188720"/>
            <a:ext cx="4602522" cy="3077362"/>
          </a:xfrm>
          <a:prstGeom prst="rect">
            <a:avLst/>
          </a:prstGeom>
        </p:spPr>
      </p:pic>
      <p:pic>
        <p:nvPicPr>
          <p:cNvPr id="3" name="Picture 2">
            <a:extLst>
              <a:ext uri="{FF2B5EF4-FFF2-40B4-BE49-F238E27FC236}">
                <a16:creationId xmlns:a16="http://schemas.microsoft.com/office/drawing/2014/main" id="{2339F664-293E-4972-9091-5D7269877A3E}"/>
              </a:ext>
            </a:extLst>
          </p:cNvPr>
          <p:cNvPicPr>
            <a:picLocks noChangeAspect="1"/>
          </p:cNvPicPr>
          <p:nvPr/>
        </p:nvPicPr>
        <p:blipFill rotWithShape="1">
          <a:blip r:embed="rId3"/>
          <a:srcRect l="8075" t="37393" r="1335"/>
          <a:stretch>
            <a:fillRect/>
          </a:stretch>
        </p:blipFill>
        <p:spPr>
          <a:xfrm>
            <a:off x="4596409" y="1188720"/>
            <a:ext cx="7693561" cy="3023436"/>
          </a:xfrm>
          <a:prstGeom prst="rect">
            <a:avLst/>
          </a:prstGeom>
          <a:ln>
            <a:solidFill>
              <a:schemeClr val="accent1"/>
            </a:solidFill>
          </a:ln>
        </p:spPr>
      </p:pic>
      <p:pic>
        <p:nvPicPr>
          <p:cNvPr id="5" name="Picture 4">
            <a:extLst>
              <a:ext uri="{FF2B5EF4-FFF2-40B4-BE49-F238E27FC236}">
                <a16:creationId xmlns:a16="http://schemas.microsoft.com/office/drawing/2014/main" id="{4B3F6488-8F13-6A60-B6A7-07071B2966EC}"/>
              </a:ext>
            </a:extLst>
          </p:cNvPr>
          <p:cNvPicPr>
            <a:picLocks noChangeAspect="1"/>
          </p:cNvPicPr>
          <p:nvPr/>
        </p:nvPicPr>
        <p:blipFill>
          <a:blip r:embed="rId2"/>
          <a:srcRect l="41167" r="33214"/>
          <a:stretch>
            <a:fillRect/>
          </a:stretch>
        </p:blipFill>
        <p:spPr>
          <a:xfrm>
            <a:off x="-6112" y="4266082"/>
            <a:ext cx="4602522" cy="2591918"/>
          </a:xfrm>
          <a:prstGeom prst="rect">
            <a:avLst/>
          </a:prstGeom>
        </p:spPr>
      </p:pic>
      <p:sp>
        <p:nvSpPr>
          <p:cNvPr id="6" name="TextBox 5">
            <a:extLst>
              <a:ext uri="{FF2B5EF4-FFF2-40B4-BE49-F238E27FC236}">
                <a16:creationId xmlns:a16="http://schemas.microsoft.com/office/drawing/2014/main" id="{165187F3-3F1D-71C2-C76D-D3C646B18696}"/>
              </a:ext>
            </a:extLst>
          </p:cNvPr>
          <p:cNvSpPr txBox="1"/>
          <p:nvPr/>
        </p:nvSpPr>
        <p:spPr>
          <a:xfrm>
            <a:off x="4596409" y="4823377"/>
            <a:ext cx="7595591" cy="1477328"/>
          </a:xfrm>
          <a:prstGeom prst="rect">
            <a:avLst/>
          </a:prstGeom>
          <a:noFill/>
        </p:spPr>
        <p:txBody>
          <a:bodyPr wrap="square" rtlCol="0">
            <a:spAutoFit/>
          </a:bodyPr>
          <a:lstStyle/>
          <a:p>
            <a:pPr algn="just"/>
            <a:r>
              <a:rPr lang="en-IN" dirty="0">
                <a:solidFill>
                  <a:srgbClr val="00B050"/>
                </a:solidFill>
              </a:rPr>
              <a:t>The most apparent observation from the chart is a positive correlation between average height and average weight across different countries. As the average height of participants from a country increases, their average weight also tends to increase. This is a natural physiological correlation.</a:t>
            </a:r>
          </a:p>
          <a:p>
            <a:pPr algn="just"/>
            <a:endParaRPr lang="en-IN" dirty="0"/>
          </a:p>
        </p:txBody>
      </p:sp>
    </p:spTree>
    <p:extLst>
      <p:ext uri="{BB962C8B-B14F-4D97-AF65-F5344CB8AC3E}">
        <p14:creationId xmlns:p14="http://schemas.microsoft.com/office/powerpoint/2010/main" val="1571121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1AC3A-3577-FE10-54F9-D149EE786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74193-EB6F-FDB5-C0E0-6BCBE0017AD0}"/>
              </a:ext>
            </a:extLst>
          </p:cNvPr>
          <p:cNvSpPr>
            <a:spLocks noGrp="1"/>
          </p:cNvSpPr>
          <p:nvPr>
            <p:ph type="title"/>
          </p:nvPr>
        </p:nvSpPr>
        <p:spPr>
          <a:xfrm>
            <a:off x="-1" y="0"/>
            <a:ext cx="12192001" cy="1188720"/>
          </a:xfrm>
        </p:spPr>
        <p:txBody>
          <a:bodyPr>
            <a:normAutofit/>
          </a:bodyPr>
          <a:lstStyle/>
          <a:p>
            <a:r>
              <a:rPr lang="en-IN" b="1" dirty="0"/>
              <a:t>13.Are there any countries that consistently perform well in multiple Olympic editions?</a:t>
            </a:r>
            <a:endParaRPr lang="en-IN" dirty="0"/>
          </a:p>
        </p:txBody>
      </p:sp>
      <p:pic>
        <p:nvPicPr>
          <p:cNvPr id="4" name="Picture 3">
            <a:extLst>
              <a:ext uri="{FF2B5EF4-FFF2-40B4-BE49-F238E27FC236}">
                <a16:creationId xmlns:a16="http://schemas.microsoft.com/office/drawing/2014/main" id="{63AA598F-EB29-2CCF-0ABE-61F0612CA75C}"/>
              </a:ext>
            </a:extLst>
          </p:cNvPr>
          <p:cNvPicPr>
            <a:picLocks noChangeAspect="1"/>
          </p:cNvPicPr>
          <p:nvPr/>
        </p:nvPicPr>
        <p:blipFill>
          <a:blip r:embed="rId2"/>
          <a:srcRect l="1" r="61964" b="31852"/>
          <a:stretch>
            <a:fillRect/>
          </a:stretch>
        </p:blipFill>
        <p:spPr>
          <a:xfrm>
            <a:off x="0" y="1188720"/>
            <a:ext cx="4637315" cy="3004458"/>
          </a:xfrm>
          <a:prstGeom prst="rect">
            <a:avLst/>
          </a:prstGeom>
        </p:spPr>
      </p:pic>
      <p:pic>
        <p:nvPicPr>
          <p:cNvPr id="3" name="Picture 2">
            <a:extLst>
              <a:ext uri="{FF2B5EF4-FFF2-40B4-BE49-F238E27FC236}">
                <a16:creationId xmlns:a16="http://schemas.microsoft.com/office/drawing/2014/main" id="{D5E53DD1-EBD6-4BFB-9191-3CB3E171B7BB}"/>
              </a:ext>
            </a:extLst>
          </p:cNvPr>
          <p:cNvPicPr>
            <a:picLocks noChangeAspect="1"/>
          </p:cNvPicPr>
          <p:nvPr/>
        </p:nvPicPr>
        <p:blipFill>
          <a:blip r:embed="rId2"/>
          <a:srcRect l="42012" r="34286" b="31852"/>
          <a:stretch>
            <a:fillRect/>
          </a:stretch>
        </p:blipFill>
        <p:spPr>
          <a:xfrm>
            <a:off x="4664928" y="1188721"/>
            <a:ext cx="2889759" cy="3004458"/>
          </a:xfrm>
          <a:prstGeom prst="rect">
            <a:avLst/>
          </a:prstGeom>
        </p:spPr>
      </p:pic>
      <p:pic>
        <p:nvPicPr>
          <p:cNvPr id="6" name="Picture 5">
            <a:extLst>
              <a:ext uri="{FF2B5EF4-FFF2-40B4-BE49-F238E27FC236}">
                <a16:creationId xmlns:a16="http://schemas.microsoft.com/office/drawing/2014/main" id="{550B7FB9-D260-59B8-DC38-77D45A12BD35}"/>
              </a:ext>
            </a:extLst>
          </p:cNvPr>
          <p:cNvPicPr>
            <a:picLocks noChangeAspect="1"/>
          </p:cNvPicPr>
          <p:nvPr/>
        </p:nvPicPr>
        <p:blipFill>
          <a:blip r:embed="rId3"/>
          <a:stretch>
            <a:fillRect/>
          </a:stretch>
        </p:blipFill>
        <p:spPr>
          <a:xfrm>
            <a:off x="7554686" y="1188720"/>
            <a:ext cx="4637313" cy="3004458"/>
          </a:xfrm>
          <a:prstGeom prst="rect">
            <a:avLst/>
          </a:prstGeom>
        </p:spPr>
      </p:pic>
      <p:sp>
        <p:nvSpPr>
          <p:cNvPr id="5" name="TextBox 4">
            <a:extLst>
              <a:ext uri="{FF2B5EF4-FFF2-40B4-BE49-F238E27FC236}">
                <a16:creationId xmlns:a16="http://schemas.microsoft.com/office/drawing/2014/main" id="{97FEC58D-F3B3-1E83-3A0E-6ADB1C7AF0CA}"/>
              </a:ext>
            </a:extLst>
          </p:cNvPr>
          <p:cNvSpPr txBox="1"/>
          <p:nvPr/>
        </p:nvSpPr>
        <p:spPr>
          <a:xfrm>
            <a:off x="87086" y="4659086"/>
            <a:ext cx="12104913" cy="1477328"/>
          </a:xfrm>
          <a:prstGeom prst="rect">
            <a:avLst/>
          </a:prstGeom>
          <a:noFill/>
        </p:spPr>
        <p:txBody>
          <a:bodyPr wrap="square" rtlCol="0">
            <a:spAutoFit/>
          </a:bodyPr>
          <a:lstStyle/>
          <a:p>
            <a:pPr algn="just"/>
            <a:r>
              <a:rPr lang="en-IN" dirty="0">
                <a:solidFill>
                  <a:srgbClr val="00FF00"/>
                </a:solidFill>
              </a:rPr>
              <a:t>Australia, Greece and UK are the highest performer, 35 distinct games years won. This suggests a very high level of consistency and sustained success over a long period. Meanwhile, Hungary &amp; Canada follows them, with 34 distinct wins. </a:t>
            </a:r>
          </a:p>
          <a:p>
            <a:pPr algn="just"/>
            <a:endParaRPr lang="en-IN" dirty="0">
              <a:solidFill>
                <a:srgbClr val="00FF00"/>
              </a:solidFill>
            </a:endParaRPr>
          </a:p>
          <a:p>
            <a:pPr algn="just"/>
            <a:r>
              <a:rPr lang="en-IN" dirty="0">
                <a:solidFill>
                  <a:srgbClr val="00FF00"/>
                </a:solidFill>
              </a:rPr>
              <a:t>Countries like Marshall Islands, Tuvalu, North Yemen, South Sudan and Zimbabwe (Rhodesia) are at the lower end of the spectrum, with fewer distinct games years won (less than 3).</a:t>
            </a:r>
          </a:p>
        </p:txBody>
      </p:sp>
    </p:spTree>
    <p:extLst>
      <p:ext uri="{BB962C8B-B14F-4D97-AF65-F5344CB8AC3E}">
        <p14:creationId xmlns:p14="http://schemas.microsoft.com/office/powerpoint/2010/main" val="1685654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6FB15-38FF-F0D2-A046-7F617487D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27514-297E-861F-D438-9D2CB2FE049D}"/>
              </a:ext>
            </a:extLst>
          </p:cNvPr>
          <p:cNvSpPr>
            <a:spLocks noGrp="1"/>
          </p:cNvSpPr>
          <p:nvPr>
            <p:ph type="title"/>
          </p:nvPr>
        </p:nvSpPr>
        <p:spPr>
          <a:xfrm>
            <a:off x="-1" y="0"/>
            <a:ext cx="12192001" cy="1188720"/>
          </a:xfrm>
        </p:spPr>
        <p:txBody>
          <a:bodyPr>
            <a:normAutofit fontScale="90000"/>
          </a:bodyPr>
          <a:lstStyle/>
          <a:p>
            <a:r>
              <a:rPr lang="en-IN" b="1" dirty="0"/>
              <a:t>14.Are there any sports or events that have a higher number of medallists from a specific region?</a:t>
            </a:r>
            <a:endParaRPr lang="en-IN" dirty="0"/>
          </a:p>
        </p:txBody>
      </p:sp>
      <p:pic>
        <p:nvPicPr>
          <p:cNvPr id="4" name="Picture 3">
            <a:extLst>
              <a:ext uri="{FF2B5EF4-FFF2-40B4-BE49-F238E27FC236}">
                <a16:creationId xmlns:a16="http://schemas.microsoft.com/office/drawing/2014/main" id="{645789F4-92F6-E0ED-BF3B-7A2887042753}"/>
              </a:ext>
            </a:extLst>
          </p:cNvPr>
          <p:cNvPicPr>
            <a:picLocks noChangeAspect="1"/>
          </p:cNvPicPr>
          <p:nvPr/>
        </p:nvPicPr>
        <p:blipFill>
          <a:blip r:embed="rId3"/>
          <a:srcRect l="-1" r="65000"/>
          <a:stretch>
            <a:fillRect/>
          </a:stretch>
        </p:blipFill>
        <p:spPr>
          <a:xfrm>
            <a:off x="0" y="1188720"/>
            <a:ext cx="4267200" cy="4003766"/>
          </a:xfrm>
          <a:prstGeom prst="rect">
            <a:avLst/>
          </a:prstGeom>
        </p:spPr>
      </p:pic>
      <p:pic>
        <p:nvPicPr>
          <p:cNvPr id="3" name="Picture 2">
            <a:extLst>
              <a:ext uri="{FF2B5EF4-FFF2-40B4-BE49-F238E27FC236}">
                <a16:creationId xmlns:a16="http://schemas.microsoft.com/office/drawing/2014/main" id="{ECD9EE7E-3D8B-2301-84F0-6B76E2AF1937}"/>
              </a:ext>
            </a:extLst>
          </p:cNvPr>
          <p:cNvPicPr>
            <a:picLocks noChangeAspect="1"/>
          </p:cNvPicPr>
          <p:nvPr/>
        </p:nvPicPr>
        <p:blipFill>
          <a:blip r:embed="rId3"/>
          <a:srcRect l="38669" r="42321"/>
          <a:stretch>
            <a:fillRect/>
          </a:stretch>
        </p:blipFill>
        <p:spPr>
          <a:xfrm>
            <a:off x="4250343" y="1188720"/>
            <a:ext cx="2317595" cy="4003766"/>
          </a:xfrm>
          <a:prstGeom prst="rect">
            <a:avLst/>
          </a:prstGeom>
        </p:spPr>
      </p:pic>
      <p:pic>
        <p:nvPicPr>
          <p:cNvPr id="6" name="Picture 5">
            <a:extLst>
              <a:ext uri="{FF2B5EF4-FFF2-40B4-BE49-F238E27FC236}">
                <a16:creationId xmlns:a16="http://schemas.microsoft.com/office/drawing/2014/main" id="{3A5CD131-057F-D541-DF88-6E03DD3AD5D8}"/>
              </a:ext>
            </a:extLst>
          </p:cNvPr>
          <p:cNvPicPr>
            <a:picLocks noChangeAspect="1"/>
          </p:cNvPicPr>
          <p:nvPr/>
        </p:nvPicPr>
        <p:blipFill>
          <a:blip r:embed="rId4"/>
          <a:stretch>
            <a:fillRect/>
          </a:stretch>
        </p:blipFill>
        <p:spPr>
          <a:xfrm>
            <a:off x="6567938" y="1188720"/>
            <a:ext cx="5624062" cy="4003766"/>
          </a:xfrm>
          <a:prstGeom prst="rect">
            <a:avLst/>
          </a:prstGeom>
        </p:spPr>
      </p:pic>
      <p:sp>
        <p:nvSpPr>
          <p:cNvPr id="5" name="TextBox 4">
            <a:extLst>
              <a:ext uri="{FF2B5EF4-FFF2-40B4-BE49-F238E27FC236}">
                <a16:creationId xmlns:a16="http://schemas.microsoft.com/office/drawing/2014/main" id="{2F1CA693-F7DA-D409-54F1-2058F89D874D}"/>
              </a:ext>
            </a:extLst>
          </p:cNvPr>
          <p:cNvSpPr txBox="1"/>
          <p:nvPr/>
        </p:nvSpPr>
        <p:spPr>
          <a:xfrm>
            <a:off x="70757" y="5527765"/>
            <a:ext cx="12050486" cy="1188720"/>
          </a:xfrm>
          <a:prstGeom prst="rect">
            <a:avLst/>
          </a:prstGeom>
          <a:noFill/>
        </p:spPr>
        <p:txBody>
          <a:bodyPr wrap="square" rtlCol="0">
            <a:spAutoFit/>
          </a:bodyPr>
          <a:lstStyle/>
          <a:p>
            <a:pPr algn="just"/>
            <a:r>
              <a:rPr lang="en-IN" dirty="0">
                <a:solidFill>
                  <a:schemeClr val="accent6">
                    <a:lumMod val="75000"/>
                  </a:schemeClr>
                </a:solidFill>
              </a:rPr>
              <a:t>The largest segment by far is Athletics, where the UK has the highest number of </a:t>
            </a:r>
            <a:r>
              <a:rPr lang="en-IN" dirty="0" err="1">
                <a:solidFill>
                  <a:schemeClr val="accent6">
                    <a:lumMod val="75000"/>
                  </a:schemeClr>
                </a:solidFill>
              </a:rPr>
              <a:t>medalists</a:t>
            </a:r>
            <a:r>
              <a:rPr lang="en-IN" dirty="0">
                <a:solidFill>
                  <a:schemeClr val="accent6">
                    <a:lumMod val="75000"/>
                  </a:schemeClr>
                </a:solidFill>
              </a:rPr>
              <a:t>, with a count of 2,196. Following Athletics, Swimming also shows the UK as having the highest number of </a:t>
            </a:r>
            <a:r>
              <a:rPr lang="en-IN" dirty="0" err="1">
                <a:solidFill>
                  <a:schemeClr val="accent6">
                    <a:lumMod val="75000"/>
                  </a:schemeClr>
                </a:solidFill>
              </a:rPr>
              <a:t>medalists</a:t>
            </a:r>
            <a:r>
              <a:rPr lang="en-IN" dirty="0">
                <a:solidFill>
                  <a:schemeClr val="accent6">
                    <a:lumMod val="75000"/>
                  </a:schemeClr>
                </a:solidFill>
              </a:rPr>
              <a:t>, with 1,268. This reinforces the UK's strength in major Olympic sports.</a:t>
            </a:r>
          </a:p>
          <a:p>
            <a:pPr algn="just"/>
            <a:endParaRPr lang="en-IN" dirty="0">
              <a:solidFill>
                <a:schemeClr val="accent6">
                  <a:lumMod val="75000"/>
                </a:schemeClr>
              </a:solidFill>
            </a:endParaRPr>
          </a:p>
        </p:txBody>
      </p:sp>
    </p:spTree>
    <p:extLst>
      <p:ext uri="{BB962C8B-B14F-4D97-AF65-F5344CB8AC3E}">
        <p14:creationId xmlns:p14="http://schemas.microsoft.com/office/powerpoint/2010/main" val="6032921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D969-B7EA-CA67-CDF3-6A6C6311E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6E8B4-3A93-499C-DC09-8339B052A91F}"/>
              </a:ext>
            </a:extLst>
          </p:cNvPr>
          <p:cNvSpPr>
            <a:spLocks noGrp="1"/>
          </p:cNvSpPr>
          <p:nvPr>
            <p:ph type="title"/>
          </p:nvPr>
        </p:nvSpPr>
        <p:spPr>
          <a:xfrm>
            <a:off x="-1" y="0"/>
            <a:ext cx="12192001" cy="1188720"/>
          </a:xfrm>
        </p:spPr>
        <p:txBody>
          <a:bodyPr>
            <a:normAutofit/>
          </a:bodyPr>
          <a:lstStyle/>
          <a:p>
            <a:r>
              <a:rPr lang="en-IN" b="1" dirty="0"/>
              <a:t>15.What are some notable instances of unexpected or surprising medal wins?</a:t>
            </a:r>
            <a:endParaRPr lang="en-IN" dirty="0"/>
          </a:p>
        </p:txBody>
      </p:sp>
      <p:pic>
        <p:nvPicPr>
          <p:cNvPr id="4" name="Picture 3">
            <a:extLst>
              <a:ext uri="{FF2B5EF4-FFF2-40B4-BE49-F238E27FC236}">
                <a16:creationId xmlns:a16="http://schemas.microsoft.com/office/drawing/2014/main" id="{C486C261-154B-0F71-1FE8-9734059199B8}"/>
              </a:ext>
            </a:extLst>
          </p:cNvPr>
          <p:cNvPicPr>
            <a:picLocks noChangeAspect="1"/>
          </p:cNvPicPr>
          <p:nvPr/>
        </p:nvPicPr>
        <p:blipFill>
          <a:blip r:embed="rId2"/>
          <a:srcRect r="22857"/>
          <a:stretch>
            <a:fillRect/>
          </a:stretch>
        </p:blipFill>
        <p:spPr>
          <a:xfrm>
            <a:off x="1393370" y="1623330"/>
            <a:ext cx="9405257" cy="3611339"/>
          </a:xfrm>
          <a:prstGeom prst="rect">
            <a:avLst/>
          </a:prstGeom>
        </p:spPr>
      </p:pic>
      <p:sp>
        <p:nvSpPr>
          <p:cNvPr id="3" name="TextBox 2">
            <a:extLst>
              <a:ext uri="{FF2B5EF4-FFF2-40B4-BE49-F238E27FC236}">
                <a16:creationId xmlns:a16="http://schemas.microsoft.com/office/drawing/2014/main" id="{CDFC3B74-AFD2-726E-63E6-3447CA8504BD}"/>
              </a:ext>
            </a:extLst>
          </p:cNvPr>
          <p:cNvSpPr txBox="1"/>
          <p:nvPr/>
        </p:nvSpPr>
        <p:spPr>
          <a:xfrm>
            <a:off x="157843" y="5380672"/>
            <a:ext cx="11876314" cy="1477328"/>
          </a:xfrm>
          <a:prstGeom prst="rect">
            <a:avLst/>
          </a:prstGeom>
          <a:noFill/>
        </p:spPr>
        <p:txBody>
          <a:bodyPr wrap="square" rtlCol="0">
            <a:spAutoFit/>
          </a:bodyPr>
          <a:lstStyle/>
          <a:p>
            <a:pPr algn="just"/>
            <a:r>
              <a:rPr lang="en-IN" dirty="0">
                <a:solidFill>
                  <a:schemeClr val="accent3"/>
                </a:solidFill>
              </a:rPr>
              <a:t>The UK's medal count of 11,536 is exceptionally high, which denotes its status as a major historical Olympic power. This is expected from a nation with a long and rich sporting history.</a:t>
            </a:r>
          </a:p>
          <a:p>
            <a:pPr algn="just"/>
            <a:r>
              <a:rPr lang="en-IN" dirty="0">
                <a:solidFill>
                  <a:schemeClr val="accent3"/>
                </a:solidFill>
              </a:rPr>
              <a:t>South Sudan is a relatively new nation, having gained independence in 2011. For such a nation to have accumulated 4 medals suggests a remarkable achievement. North Borneo's Medal Wins (2 medals): North Borneo refers to the former British colony, which is now part of Malaysia (Sabah).</a:t>
            </a:r>
          </a:p>
        </p:txBody>
      </p:sp>
    </p:spTree>
    <p:extLst>
      <p:ext uri="{BB962C8B-B14F-4D97-AF65-F5344CB8AC3E}">
        <p14:creationId xmlns:p14="http://schemas.microsoft.com/office/powerpoint/2010/main" val="2759309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35AD5-4EF1-3C16-2045-07A2256C1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04CB0-44EE-82BA-3758-321F0D318657}"/>
              </a:ext>
            </a:extLst>
          </p:cNvPr>
          <p:cNvSpPr>
            <a:spLocks noGrp="1"/>
          </p:cNvSpPr>
          <p:nvPr>
            <p:ph type="title"/>
          </p:nvPr>
        </p:nvSpPr>
        <p:spPr>
          <a:xfrm>
            <a:off x="-1" y="0"/>
            <a:ext cx="12192001" cy="1188720"/>
          </a:xfrm>
        </p:spPr>
        <p:txBody>
          <a:bodyPr>
            <a:normAutofit fontScale="90000"/>
          </a:bodyPr>
          <a:lstStyle/>
          <a:p>
            <a:r>
              <a:rPr lang="en-IN" b="1" dirty="0"/>
              <a:t>16.Are there any regions that have experienced significant growth or decline in Olympic participation?</a:t>
            </a:r>
            <a:endParaRPr lang="en-IN" dirty="0"/>
          </a:p>
        </p:txBody>
      </p:sp>
      <p:pic>
        <p:nvPicPr>
          <p:cNvPr id="4" name="Picture 3">
            <a:extLst>
              <a:ext uri="{FF2B5EF4-FFF2-40B4-BE49-F238E27FC236}">
                <a16:creationId xmlns:a16="http://schemas.microsoft.com/office/drawing/2014/main" id="{3DFA182E-4094-40D3-3CAF-A434FC19AAAE}"/>
              </a:ext>
            </a:extLst>
          </p:cNvPr>
          <p:cNvPicPr>
            <a:picLocks noChangeAspect="1"/>
          </p:cNvPicPr>
          <p:nvPr/>
        </p:nvPicPr>
        <p:blipFill>
          <a:blip r:embed="rId2"/>
          <a:srcRect r="58661"/>
          <a:stretch>
            <a:fillRect/>
          </a:stretch>
        </p:blipFill>
        <p:spPr>
          <a:xfrm>
            <a:off x="-1" y="1188719"/>
            <a:ext cx="5007429" cy="4812369"/>
          </a:xfrm>
          <a:prstGeom prst="rect">
            <a:avLst/>
          </a:prstGeom>
        </p:spPr>
      </p:pic>
      <p:pic>
        <p:nvPicPr>
          <p:cNvPr id="3" name="Picture 2">
            <a:extLst>
              <a:ext uri="{FF2B5EF4-FFF2-40B4-BE49-F238E27FC236}">
                <a16:creationId xmlns:a16="http://schemas.microsoft.com/office/drawing/2014/main" id="{EFC1CEFF-C919-DA34-44E3-C579122FD599}"/>
              </a:ext>
            </a:extLst>
          </p:cNvPr>
          <p:cNvPicPr>
            <a:picLocks noChangeAspect="1"/>
          </p:cNvPicPr>
          <p:nvPr/>
        </p:nvPicPr>
        <p:blipFill>
          <a:blip r:embed="rId2"/>
          <a:srcRect l="45625" r="28750"/>
          <a:stretch>
            <a:fillRect/>
          </a:stretch>
        </p:blipFill>
        <p:spPr>
          <a:xfrm>
            <a:off x="5007427" y="1188719"/>
            <a:ext cx="3559629" cy="4843754"/>
          </a:xfrm>
          <a:prstGeom prst="rect">
            <a:avLst/>
          </a:prstGeom>
        </p:spPr>
      </p:pic>
      <p:sp>
        <p:nvSpPr>
          <p:cNvPr id="5" name="TextBox 4">
            <a:extLst>
              <a:ext uri="{FF2B5EF4-FFF2-40B4-BE49-F238E27FC236}">
                <a16:creationId xmlns:a16="http://schemas.microsoft.com/office/drawing/2014/main" id="{4ADD6789-88D3-41D0-0BBE-5B1C8F5745C2}"/>
              </a:ext>
            </a:extLst>
          </p:cNvPr>
          <p:cNvSpPr txBox="1"/>
          <p:nvPr/>
        </p:nvSpPr>
        <p:spPr>
          <a:xfrm>
            <a:off x="8711624" y="1625437"/>
            <a:ext cx="3335808" cy="3970318"/>
          </a:xfrm>
          <a:prstGeom prst="rect">
            <a:avLst/>
          </a:prstGeom>
          <a:noFill/>
        </p:spPr>
        <p:txBody>
          <a:bodyPr wrap="square" rtlCol="0">
            <a:spAutoFit/>
          </a:bodyPr>
          <a:lstStyle/>
          <a:p>
            <a:pPr algn="just"/>
            <a:r>
              <a:rPr lang="en-IN" dirty="0">
                <a:solidFill>
                  <a:schemeClr val="accent3">
                    <a:lumMod val="75000"/>
                  </a:schemeClr>
                </a:solidFill>
              </a:rPr>
              <a:t>This line chart reveals significant growth trends in Olympic participation for several countries.</a:t>
            </a:r>
          </a:p>
          <a:p>
            <a:pPr algn="just"/>
            <a:r>
              <a:rPr lang="en-IN" dirty="0">
                <a:solidFill>
                  <a:schemeClr val="accent3">
                    <a:lumMod val="75000"/>
                  </a:schemeClr>
                </a:solidFill>
              </a:rPr>
              <a:t>Many countries, even those with relatively low participation, show an overall upward trend in participation numbers over the long term, albeit with fluctuations. This could reflect the overall growth of the Olympic movement and increased global participation over the decades.</a:t>
            </a:r>
          </a:p>
          <a:p>
            <a:pPr algn="just"/>
            <a:endParaRPr lang="en-IN" dirty="0">
              <a:solidFill>
                <a:schemeClr val="accent3">
                  <a:lumMod val="75000"/>
                </a:schemeClr>
              </a:solidFill>
            </a:endParaRPr>
          </a:p>
        </p:txBody>
      </p:sp>
    </p:spTree>
    <p:extLst>
      <p:ext uri="{BB962C8B-B14F-4D97-AF65-F5344CB8AC3E}">
        <p14:creationId xmlns:p14="http://schemas.microsoft.com/office/powerpoint/2010/main" val="1843177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EFA0F-5E58-F722-9111-A055E2A50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1DEC9-122A-662D-2752-277189ACC411}"/>
              </a:ext>
            </a:extLst>
          </p:cNvPr>
          <p:cNvSpPr>
            <a:spLocks noGrp="1"/>
          </p:cNvSpPr>
          <p:nvPr>
            <p:ph type="title"/>
          </p:nvPr>
        </p:nvSpPr>
        <p:spPr>
          <a:xfrm>
            <a:off x="-1" y="0"/>
            <a:ext cx="12192001" cy="1188720"/>
          </a:xfrm>
        </p:spPr>
        <p:txBody>
          <a:bodyPr>
            <a:normAutofit fontScale="90000"/>
          </a:bodyPr>
          <a:lstStyle/>
          <a:p>
            <a:r>
              <a:rPr lang="en-IN" b="1" dirty="0"/>
              <a:t>17.How do cultural or geographical factors influence the performance of regions in specific sports?</a:t>
            </a:r>
            <a:endParaRPr lang="en-IN" dirty="0"/>
          </a:p>
        </p:txBody>
      </p:sp>
      <p:pic>
        <p:nvPicPr>
          <p:cNvPr id="3" name="Picture 2">
            <a:extLst>
              <a:ext uri="{FF2B5EF4-FFF2-40B4-BE49-F238E27FC236}">
                <a16:creationId xmlns:a16="http://schemas.microsoft.com/office/drawing/2014/main" id="{61C70FF4-2C6B-330C-6E86-65FFBA150497}"/>
              </a:ext>
            </a:extLst>
          </p:cNvPr>
          <p:cNvPicPr>
            <a:picLocks noChangeAspect="1"/>
          </p:cNvPicPr>
          <p:nvPr/>
        </p:nvPicPr>
        <p:blipFill>
          <a:blip r:embed="rId2"/>
          <a:srcRect l="39911" r="32499"/>
          <a:stretch>
            <a:fillRect/>
          </a:stretch>
        </p:blipFill>
        <p:spPr>
          <a:xfrm>
            <a:off x="5660571" y="1188720"/>
            <a:ext cx="2939143" cy="3243500"/>
          </a:xfrm>
          <a:prstGeom prst="rect">
            <a:avLst/>
          </a:prstGeom>
        </p:spPr>
      </p:pic>
      <p:pic>
        <p:nvPicPr>
          <p:cNvPr id="6" name="Picture 5">
            <a:extLst>
              <a:ext uri="{FF2B5EF4-FFF2-40B4-BE49-F238E27FC236}">
                <a16:creationId xmlns:a16="http://schemas.microsoft.com/office/drawing/2014/main" id="{0EC29DEB-58FE-9D21-75E8-70A0BF195B8A}"/>
              </a:ext>
            </a:extLst>
          </p:cNvPr>
          <p:cNvPicPr>
            <a:picLocks noChangeAspect="1"/>
          </p:cNvPicPr>
          <p:nvPr/>
        </p:nvPicPr>
        <p:blipFill>
          <a:blip r:embed="rId3"/>
          <a:stretch>
            <a:fillRect/>
          </a:stretch>
        </p:blipFill>
        <p:spPr>
          <a:xfrm>
            <a:off x="58163" y="1188720"/>
            <a:ext cx="5602408" cy="3243501"/>
          </a:xfrm>
          <a:prstGeom prst="rect">
            <a:avLst/>
          </a:prstGeom>
          <a:ln>
            <a:solidFill>
              <a:schemeClr val="accent1"/>
            </a:solidFill>
          </a:ln>
        </p:spPr>
      </p:pic>
      <p:pic>
        <p:nvPicPr>
          <p:cNvPr id="7" name="Picture 6">
            <a:extLst>
              <a:ext uri="{FF2B5EF4-FFF2-40B4-BE49-F238E27FC236}">
                <a16:creationId xmlns:a16="http://schemas.microsoft.com/office/drawing/2014/main" id="{F1E76487-A9FE-CBAD-9934-CE5FE1F8AB51}"/>
              </a:ext>
            </a:extLst>
          </p:cNvPr>
          <p:cNvPicPr>
            <a:picLocks noChangeAspect="1"/>
          </p:cNvPicPr>
          <p:nvPr/>
        </p:nvPicPr>
        <p:blipFill rotWithShape="1">
          <a:blip r:embed="rId4"/>
          <a:srcRect l="222" t="2399" r="1507" b="2465"/>
          <a:stretch>
            <a:fillRect/>
          </a:stretch>
        </p:blipFill>
        <p:spPr bwMode="auto">
          <a:xfrm>
            <a:off x="8599714" y="1188720"/>
            <a:ext cx="3592286" cy="3243500"/>
          </a:xfrm>
          <a:prstGeom prst="rect">
            <a:avLst/>
          </a:prstGeom>
          <a:ln w="9525" cap="flat" cmpd="sng" algn="ctr">
            <a:solidFill>
              <a:srgbClr val="4472C4">
                <a:lumMod val="50000"/>
              </a:srgb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D43B7ED6-8E52-C917-33EE-6594FB851876}"/>
              </a:ext>
            </a:extLst>
          </p:cNvPr>
          <p:cNvSpPr txBox="1"/>
          <p:nvPr/>
        </p:nvSpPr>
        <p:spPr>
          <a:xfrm>
            <a:off x="58163" y="5072741"/>
            <a:ext cx="12050486" cy="1477328"/>
          </a:xfrm>
          <a:prstGeom prst="rect">
            <a:avLst/>
          </a:prstGeom>
          <a:noFill/>
        </p:spPr>
        <p:txBody>
          <a:bodyPr wrap="square" rtlCol="0">
            <a:spAutoFit/>
          </a:bodyPr>
          <a:lstStyle/>
          <a:p>
            <a:pPr algn="just"/>
            <a:r>
              <a:rPr lang="en-IN" dirty="0">
                <a:solidFill>
                  <a:srgbClr val="00B0F0"/>
                </a:solidFill>
              </a:rPr>
              <a:t>Winter-dominated sports like Ice Hockey, Cross Country Skiing and Alpinism have participants from countries like Canada, Sweden, Iceland, and Soviet Union. These sports that are naturally suited to their mountainous or snowy terrains</a:t>
            </a:r>
            <a:r>
              <a:rPr lang="en-IN" dirty="0"/>
              <a:t>.</a:t>
            </a:r>
          </a:p>
          <a:p>
            <a:pPr algn="just"/>
            <a:endParaRPr lang="en-IN" dirty="0"/>
          </a:p>
          <a:p>
            <a:pPr algn="just"/>
            <a:r>
              <a:rPr lang="en-IN" dirty="0">
                <a:solidFill>
                  <a:srgbClr val="FF0000"/>
                </a:solidFill>
              </a:rPr>
              <a:t>Summer-dominated sports like Swimming, Fencing, Rowing, Athletics have participants from Australia, USA and UK.</a:t>
            </a:r>
          </a:p>
          <a:p>
            <a:pPr algn="just"/>
            <a:endParaRPr lang="en-IN" dirty="0"/>
          </a:p>
        </p:txBody>
      </p:sp>
    </p:spTree>
    <p:extLst>
      <p:ext uri="{BB962C8B-B14F-4D97-AF65-F5344CB8AC3E}">
        <p14:creationId xmlns:p14="http://schemas.microsoft.com/office/powerpoint/2010/main" val="41814976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79F89-257D-5702-996E-46497E8D4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E6A15-9433-07CD-80AD-D88B354FD436}"/>
              </a:ext>
            </a:extLst>
          </p:cNvPr>
          <p:cNvSpPr>
            <a:spLocks noGrp="1"/>
          </p:cNvSpPr>
          <p:nvPr>
            <p:ph type="title"/>
          </p:nvPr>
        </p:nvSpPr>
        <p:spPr>
          <a:xfrm>
            <a:off x="-1" y="0"/>
            <a:ext cx="12192001" cy="1188720"/>
          </a:xfrm>
        </p:spPr>
        <p:txBody>
          <a:bodyPr>
            <a:normAutofit/>
          </a:bodyPr>
          <a:lstStyle/>
          <a:p>
            <a:r>
              <a:rPr lang="en-IN" b="1" dirty="0"/>
              <a:t>18.Are there any regions that have had a notable impact on the overall medal tally?</a:t>
            </a:r>
            <a:endParaRPr lang="en-IN" dirty="0"/>
          </a:p>
        </p:txBody>
      </p:sp>
      <p:pic>
        <p:nvPicPr>
          <p:cNvPr id="4" name="Picture 3">
            <a:extLst>
              <a:ext uri="{FF2B5EF4-FFF2-40B4-BE49-F238E27FC236}">
                <a16:creationId xmlns:a16="http://schemas.microsoft.com/office/drawing/2014/main" id="{97204EE1-04BF-4C0A-541C-132CE567C0A5}"/>
              </a:ext>
            </a:extLst>
          </p:cNvPr>
          <p:cNvPicPr>
            <a:picLocks noChangeAspect="1"/>
          </p:cNvPicPr>
          <p:nvPr/>
        </p:nvPicPr>
        <p:blipFill>
          <a:blip r:embed="rId2"/>
          <a:srcRect r="66071" b="12933"/>
          <a:stretch>
            <a:fillRect/>
          </a:stretch>
        </p:blipFill>
        <p:spPr>
          <a:xfrm>
            <a:off x="0" y="1715858"/>
            <a:ext cx="4506686" cy="3732845"/>
          </a:xfrm>
          <a:prstGeom prst="rect">
            <a:avLst/>
          </a:prstGeom>
        </p:spPr>
      </p:pic>
      <p:pic>
        <p:nvPicPr>
          <p:cNvPr id="5" name="Picture 4">
            <a:extLst>
              <a:ext uri="{FF2B5EF4-FFF2-40B4-BE49-F238E27FC236}">
                <a16:creationId xmlns:a16="http://schemas.microsoft.com/office/drawing/2014/main" id="{64B4792F-D9AA-90D7-9DA9-493F86BA2170}"/>
              </a:ext>
            </a:extLst>
          </p:cNvPr>
          <p:cNvPicPr>
            <a:picLocks noChangeAspect="1"/>
          </p:cNvPicPr>
          <p:nvPr/>
        </p:nvPicPr>
        <p:blipFill>
          <a:blip r:embed="rId3"/>
          <a:stretch>
            <a:fillRect/>
          </a:stretch>
        </p:blipFill>
        <p:spPr>
          <a:xfrm>
            <a:off x="4506686" y="1715858"/>
            <a:ext cx="3545749" cy="3732845"/>
          </a:xfrm>
          <a:prstGeom prst="rect">
            <a:avLst/>
          </a:prstGeom>
        </p:spPr>
      </p:pic>
      <p:pic>
        <p:nvPicPr>
          <p:cNvPr id="6" name="Picture 5">
            <a:extLst>
              <a:ext uri="{FF2B5EF4-FFF2-40B4-BE49-F238E27FC236}">
                <a16:creationId xmlns:a16="http://schemas.microsoft.com/office/drawing/2014/main" id="{F280A682-773B-C284-AE52-FAD3AE430761}"/>
              </a:ext>
            </a:extLst>
          </p:cNvPr>
          <p:cNvPicPr>
            <a:picLocks noChangeAspect="1"/>
          </p:cNvPicPr>
          <p:nvPr/>
        </p:nvPicPr>
        <p:blipFill rotWithShape="1">
          <a:blip r:embed="rId4"/>
          <a:srcRect l="1219"/>
          <a:stretch>
            <a:fillRect/>
          </a:stretch>
        </p:blipFill>
        <p:spPr bwMode="auto">
          <a:xfrm>
            <a:off x="8052435" y="1715858"/>
            <a:ext cx="4139565" cy="3732844"/>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EFD31DAB-1627-01E4-AFE9-87C6E9907E39}"/>
              </a:ext>
            </a:extLst>
          </p:cNvPr>
          <p:cNvSpPr txBox="1"/>
          <p:nvPr/>
        </p:nvSpPr>
        <p:spPr>
          <a:xfrm>
            <a:off x="0" y="5448702"/>
            <a:ext cx="12191999" cy="1409298"/>
          </a:xfrm>
          <a:prstGeom prst="rect">
            <a:avLst/>
          </a:prstGeom>
          <a:noFill/>
        </p:spPr>
        <p:txBody>
          <a:bodyPr wrap="square">
            <a:spAutoFit/>
          </a:bodyPr>
          <a:lstStyle/>
          <a:p>
            <a:pPr algn="just">
              <a:lnSpc>
                <a:spcPct val="107000"/>
              </a:lnSpc>
              <a:spcAft>
                <a:spcPts val="800"/>
              </a:spcAft>
              <a:buNone/>
              <a:tabLst>
                <a:tab pos="457200" algn="l"/>
              </a:tabLst>
            </a:pPr>
            <a:r>
              <a:rPr lang="en-IN" sz="1800" kern="100" dirty="0">
                <a:solidFill>
                  <a:schemeClr val="bg2">
                    <a:lumMod val="25000"/>
                  </a:schemeClr>
                </a:solidFill>
                <a:effectLst/>
                <a:latin typeface="Arial" panose="020B0604020202020204" pitchFamily="34" charset="0"/>
                <a:ea typeface="Calibri" panose="020F0502020204030204" pitchFamily="34" charset="0"/>
                <a:cs typeface="Times New Roman" panose="02020603050405020304" pitchFamily="18" charset="0"/>
              </a:rPr>
              <a:t>This Pie chart displays the percentage contribution of various regions to the total number of medals.</a:t>
            </a:r>
            <a:endParaRPr lang="en-IN" sz="1400" kern="100" dirty="0">
              <a:solidFill>
                <a:schemeClr val="bg2">
                  <a:lumMod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tabLst>
                <a:tab pos="457200" algn="l"/>
              </a:tabLst>
            </a:pPr>
            <a:r>
              <a:rPr lang="en-IN" sz="1800" kern="100" dirty="0">
                <a:solidFill>
                  <a:schemeClr val="bg2">
                    <a:lumMod val="25000"/>
                  </a:schemeClr>
                </a:solidFill>
                <a:effectLst/>
                <a:latin typeface="Arial" panose="020B0604020202020204" pitchFamily="34" charset="0"/>
                <a:ea typeface="Calibri" panose="020F0502020204030204" pitchFamily="34" charset="0"/>
                <a:cs typeface="Times New Roman" panose="02020603050405020304" pitchFamily="18" charset="0"/>
              </a:rPr>
              <a:t>With 10% of the total medals, the UK stands out as the single largest contributor (nearly 10%) among the regions shown. This indicates a very significant and notable impact on the overall medal tally. Following the UK, Canada accounts for 8% of the total medals, making it another major contributor. </a:t>
            </a:r>
            <a:endParaRPr lang="en-IN" sz="1400" kern="100" dirty="0">
              <a:solidFill>
                <a:schemeClr val="bg2">
                  <a:lumMod val="2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7223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D973-AB0F-5928-E1A6-2661E0D25F0B}"/>
            </a:ext>
          </a:extLst>
        </p:cNvPr>
        <p:cNvGrpSpPr/>
        <p:nvPr/>
      </p:nvGrpSpPr>
      <p:grpSpPr>
        <a:xfrm>
          <a:off x="0" y="0"/>
          <a:ext cx="0" cy="0"/>
          <a:chOff x="0" y="0"/>
          <a:chExt cx="0" cy="0"/>
        </a:xfrm>
      </p:grpSpPr>
      <p:pic>
        <p:nvPicPr>
          <p:cNvPr id="6146" name="Picture 2" descr="Olympic Games Data Visualization | Data ...">
            <a:extLst>
              <a:ext uri="{FF2B5EF4-FFF2-40B4-BE49-F238E27FC236}">
                <a16:creationId xmlns:a16="http://schemas.microsoft.com/office/drawing/2014/main" id="{FE479F87-C886-8515-CBC2-5E477DACAE1E}"/>
              </a:ext>
            </a:extLst>
          </p:cNvPr>
          <p:cNvPicPr>
            <a:picLocks noChangeAspect="1" noChangeArrowheads="1"/>
          </p:cNvPicPr>
          <p:nvPr/>
        </p:nvPicPr>
        <p:blipFill>
          <a:blip r:embed="rId2">
            <a:lum bright="70000" contrast="-70000"/>
            <a:extLst>
              <a:ext uri="{BEBA8EAE-BF5A-486C-A8C5-ECC9F3942E4B}">
                <a14:imgProps xmlns:a14="http://schemas.microsoft.com/office/drawing/2010/main">
                  <a14:imgLayer r:embed="rId3">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0" y="0"/>
            <a:ext cx="1216070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0857043-EE76-A271-7A46-E0E88DD2C1FF}"/>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CBE42A0-3793-0DFD-B048-55E2E43E217C}"/>
              </a:ext>
            </a:extLst>
          </p:cNvPr>
          <p:cNvSpPr>
            <a:spLocks noGrp="1"/>
          </p:cNvSpPr>
          <p:nvPr>
            <p:ph idx="1"/>
          </p:nvPr>
        </p:nvSpPr>
        <p:spPr>
          <a:xfrm>
            <a:off x="2231135" y="2242456"/>
            <a:ext cx="7729727" cy="2939143"/>
          </a:xfrm>
        </p:spPr>
        <p:txBody>
          <a:bodyPr>
            <a:normAutofit/>
          </a:bodyPr>
          <a:lstStyle/>
          <a:p>
            <a:r>
              <a:rPr lang="en-US" dirty="0"/>
              <a:t>Historical data reveals a steady rise in athlete representation, gender equity advancements, and competitive parity across nations.</a:t>
            </a:r>
          </a:p>
          <a:p>
            <a:r>
              <a:rPr lang="en-US" dirty="0"/>
              <a:t>There is a gender domination and regional domination as far as the medal and participation is concerned. </a:t>
            </a:r>
          </a:p>
          <a:p>
            <a:r>
              <a:rPr lang="en-US" dirty="0"/>
              <a:t>The growing inclusion of non-traditional sports underscores the Olympics' adaptability to cultural and generational preferences, ensuring relevance in the modern era.</a:t>
            </a:r>
            <a:endParaRPr lang="en-IN" b="1" dirty="0">
              <a:solidFill>
                <a:srgbClr val="FF0000"/>
              </a:solidFill>
            </a:endParaRPr>
          </a:p>
        </p:txBody>
      </p:sp>
    </p:spTree>
    <p:extLst>
      <p:ext uri="{BB962C8B-B14F-4D97-AF65-F5344CB8AC3E}">
        <p14:creationId xmlns:p14="http://schemas.microsoft.com/office/powerpoint/2010/main" val="21918649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0AB3B-D916-2BB5-C40B-BBD4F9C4953D}"/>
              </a:ext>
            </a:extLst>
          </p:cNvPr>
          <p:cNvSpPr>
            <a:spLocks noGrp="1"/>
          </p:cNvSpPr>
          <p:nvPr>
            <p:ph type="title"/>
          </p:nvPr>
        </p:nvSpPr>
        <p:spPr>
          <a:xfrm>
            <a:off x="2231136" y="2834640"/>
            <a:ext cx="7729728" cy="1188720"/>
          </a:xfrm>
        </p:spPr>
        <p:txBody>
          <a:bodyPr/>
          <a:lstStyle/>
          <a:p>
            <a:r>
              <a:rPr lang="en-IN" dirty="0"/>
              <a:t>THE END</a:t>
            </a:r>
          </a:p>
        </p:txBody>
      </p:sp>
    </p:spTree>
    <p:extLst>
      <p:ext uri="{BB962C8B-B14F-4D97-AF65-F5344CB8AC3E}">
        <p14:creationId xmlns:p14="http://schemas.microsoft.com/office/powerpoint/2010/main" val="186440979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2805</TotalTime>
  <Words>2408</Words>
  <Application>Microsoft Office PowerPoint</Application>
  <PresentationFormat>Widescreen</PresentationFormat>
  <Paragraphs>121</Paragraphs>
  <Slides>46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Gill Sans MT</vt:lpstr>
      <vt:lpstr>Parcel</vt:lpstr>
      <vt:lpstr>CAPSTONE PROJECT - Sports analysis</vt:lpstr>
      <vt:lpstr>OBJECTIVE</vt:lpstr>
      <vt:lpstr>Dataset Description</vt:lpstr>
      <vt:lpstr>ER DIAGRAM</vt:lpstr>
      <vt:lpstr>PowerPoint Presentation</vt:lpstr>
      <vt:lpstr>PowerPoint Presentation</vt:lpstr>
      <vt:lpstr>1.How many Olympic Games have been held in each season (Summer vs. Winter)? </vt:lpstr>
      <vt:lpstr>2. What is the distribution of games across different decades?</vt:lpstr>
      <vt:lpstr>3. Which cities have hosted the most Olympic Games? </vt:lpstr>
      <vt:lpstr>4. What is the distribution of sports between Summer and Winter Olympics?</vt:lpstr>
      <vt:lpstr>5.Which sports have the highest number of events in the Olympics?</vt:lpstr>
      <vt:lpstr>6. How has the participation in each sport evolved over time?</vt:lpstr>
      <vt:lpstr>7.How many events are there in each sport?</vt:lpstr>
      <vt:lpstr>8. What is the distribution of events by gender (Men, Women, Mixed)?</vt:lpstr>
      <vt:lpstr>9. How has the number of events changed over time?</vt:lpstr>
      <vt:lpstr>10. What is the distribution of participants by gender?</vt:lpstr>
      <vt:lpstr>11. Which countries have the highest number of participants in the Olympics?</vt:lpstr>
      <vt:lpstr>12.How does the age distribution of participants vary across different games?</vt:lpstr>
      <vt:lpstr>13. How many medals have been awarded in each Olympics?</vt:lpstr>
      <vt:lpstr>14. Which countries have the highest number of gold medals?</vt:lpstr>
      <vt:lpstr>15.How does the medal distribution vary across different sports?</vt:lpstr>
      <vt:lpstr>16.How many regions or NOCs participate in each Olympic Games?</vt:lpstr>
      <vt:lpstr>17. Which regions have the highest number of participants in the Olympics?</vt:lpstr>
      <vt:lpstr>18. What is the distribution of medals among different regions?</vt:lpstr>
      <vt:lpstr>PROBLEM STATEMENTS</vt:lpstr>
      <vt:lpstr>PowerPoint Presentation</vt:lpstr>
      <vt:lpstr>1. Are there any trends or patterns in the frequency of hosting Olympic Games?</vt:lpstr>
      <vt:lpstr>2. How has the duration of Olympic Games changed over time?</vt:lpstr>
      <vt:lpstr>3. Are there any notable events or occurrences associated with specific Olympic Games?</vt:lpstr>
      <vt:lpstr>4. Are there any emerging sports that have been recently added to the Olympics?</vt:lpstr>
      <vt:lpstr>5. How has the popularity of certain sports changed over the years?</vt:lpstr>
      <vt:lpstr>6. Are there any sports that are specific to a particular region or culture?</vt:lpstr>
      <vt:lpstr>7. Are there any sports that have a higher number of events for one gender compared to others?</vt:lpstr>
      <vt:lpstr>8. Are there any new events that have been introduced in recent editions of the Olympics?</vt:lpstr>
      <vt:lpstr>9. Are there any events that have been discontinued or removed from the Olympics?</vt:lpstr>
      <vt:lpstr>10. Are there any notable trends in the height and weight of participants over time?</vt:lpstr>
      <vt:lpstr>11. Are there any dominant countries or regions in specific sports or events?</vt:lpstr>
      <vt:lpstr>12.What factors contribute to the success or performance of participants from different countries?</vt:lpstr>
      <vt:lpstr>13.Are there any countries that consistently perform well in multiple Olympic editions?</vt:lpstr>
      <vt:lpstr>14.Are there any sports or events that have a higher number of medallists from a specific region?</vt:lpstr>
      <vt:lpstr>15.What are some notable instances of unexpected or surprising medal wins?</vt:lpstr>
      <vt:lpstr>16.Are there any regions that have experienced significant growth or decline in Olympic participation?</vt:lpstr>
      <vt:lpstr>17.How do cultural or geographical factors influence the performance of regions in specific sports?</vt:lpstr>
      <vt:lpstr>18.Are there any regions that have had a notable impact on the overall medal tally?</vt:lpstr>
      <vt:lpstr>CONCLUSION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Rajiv Kumar</dc:creator>
  <cp:lastModifiedBy>Rajiv Kumar</cp:lastModifiedBy>
  <cp:revision>24</cp:revision>
  <dcterms:created xsi:type="dcterms:W3CDTF">2025-06-09T06:09:31Z</dcterms:created>
  <dcterms:modified xsi:type="dcterms:W3CDTF">2025-06-19T17:41:32Z</dcterms:modified>
</cp:coreProperties>
</file>